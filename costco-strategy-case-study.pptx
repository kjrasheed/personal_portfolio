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1" r:id="rId4"/>
  </p:sldMasterIdLst>
  <p:sldIdLst>
    <p:sldId id="256" r:id="rId5"/>
    <p:sldId id="257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60" r:id="rId14"/>
    <p:sldId id="258" r:id="rId15"/>
    <p:sldId id="262" r:id="rId16"/>
    <p:sldId id="259" r:id="rId17"/>
    <p:sldId id="272" r:id="rId18"/>
    <p:sldId id="273" r:id="rId19"/>
    <p:sldId id="274" r:id="rId20"/>
    <p:sldId id="270" r:id="rId21"/>
    <p:sldId id="271" r:id="rId22"/>
    <p:sldId id="26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74AF07-E6AD-AC4C-D5B3-DAE7CD4ECBAE}" v="3" dt="2025-07-25T20:45:02.072"/>
    <p1510:client id="{B170872D-FAA7-7804-6A02-3ACD82F3ED56}" v="4" dt="2025-07-25T20:30:29.9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20"/>
    <p:restoredTop sz="94657"/>
  </p:normalViewPr>
  <p:slideViewPr>
    <p:cSldViewPr snapToGrid="0">
      <p:cViewPr varScale="1">
        <p:scale>
          <a:sx n="102" d="100"/>
          <a:sy n="102" d="100"/>
        </p:scale>
        <p:origin x="7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EB865E-CE0C-49C8-A242-587CE3D6848C}" type="doc">
      <dgm:prSet loTypeId="urn:microsoft.com/office/officeart/2005/8/layout/vProcess5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B3EF4BD-8821-42E7-9571-04452B7D6EE8}">
      <dgm:prSet/>
      <dgm:spPr/>
      <dgm:t>
        <a:bodyPr/>
        <a:lstStyle/>
        <a:p>
          <a:r>
            <a:rPr lang="en-US"/>
            <a:t>Founded: 1983; Headquarters: Issaquah, WA</a:t>
          </a:r>
        </a:p>
      </dgm:t>
    </dgm:pt>
    <dgm:pt modelId="{9C1D3F17-97BB-4033-B5A0-0E39F0BD075D}" type="parTrans" cxnId="{F24B9211-3D65-4837-BE52-B02A4C4FB9FA}">
      <dgm:prSet/>
      <dgm:spPr/>
      <dgm:t>
        <a:bodyPr/>
        <a:lstStyle/>
        <a:p>
          <a:endParaRPr lang="en-US"/>
        </a:p>
      </dgm:t>
    </dgm:pt>
    <dgm:pt modelId="{BAC36C87-05C2-4468-B6F0-96BB49C57E92}" type="sibTrans" cxnId="{F24B9211-3D65-4837-BE52-B02A4C4FB9FA}">
      <dgm:prSet/>
      <dgm:spPr/>
      <dgm:t>
        <a:bodyPr/>
        <a:lstStyle/>
        <a:p>
          <a:endParaRPr lang="en-US"/>
        </a:p>
      </dgm:t>
    </dgm:pt>
    <dgm:pt modelId="{CF45D12A-7399-4331-B4AE-3E3728758C74}">
      <dgm:prSet/>
      <dgm:spPr/>
      <dgm:t>
        <a:bodyPr/>
        <a:lstStyle/>
        <a:p>
          <a:r>
            <a:rPr lang="en-US"/>
            <a:t>876 warehouses (2024): 602 U.S., 107 Canada, 40 Mexico, 33 Japan, etc.</a:t>
          </a:r>
        </a:p>
      </dgm:t>
    </dgm:pt>
    <dgm:pt modelId="{BD963DE9-1B5D-42F5-9B7C-78D7077314C5}" type="parTrans" cxnId="{990A8938-E77A-40C1-B559-DB268CE14F16}">
      <dgm:prSet/>
      <dgm:spPr/>
      <dgm:t>
        <a:bodyPr/>
        <a:lstStyle/>
        <a:p>
          <a:endParaRPr lang="en-US"/>
        </a:p>
      </dgm:t>
    </dgm:pt>
    <dgm:pt modelId="{25E11190-87BB-4AD2-B556-80E2278058EC}" type="sibTrans" cxnId="{990A8938-E77A-40C1-B559-DB268CE14F16}">
      <dgm:prSet/>
      <dgm:spPr/>
      <dgm:t>
        <a:bodyPr/>
        <a:lstStyle/>
        <a:p>
          <a:endParaRPr lang="en-US"/>
        </a:p>
      </dgm:t>
    </dgm:pt>
    <dgm:pt modelId="{85F04421-D064-420B-9ED6-E23E2840BB39}">
      <dgm:prSet/>
      <dgm:spPr/>
      <dgm:t>
        <a:bodyPr/>
        <a:lstStyle/>
        <a:p>
          <a:r>
            <a:rPr lang="en-US"/>
            <a:t>Business Model: Membership-based, low prices, high-quality via bulk purchasing and Kirkland Signature.</a:t>
          </a:r>
        </a:p>
      </dgm:t>
    </dgm:pt>
    <dgm:pt modelId="{0F5A39F7-8A15-4289-9E89-190BC69E197F}" type="parTrans" cxnId="{09BE42E5-5BBC-4868-A810-A4CC1208912A}">
      <dgm:prSet/>
      <dgm:spPr/>
      <dgm:t>
        <a:bodyPr/>
        <a:lstStyle/>
        <a:p>
          <a:endParaRPr lang="en-US"/>
        </a:p>
      </dgm:t>
    </dgm:pt>
    <dgm:pt modelId="{8DBDC6DB-DA76-4F5A-B450-C15DCD6CBF8A}" type="sibTrans" cxnId="{09BE42E5-5BBC-4868-A810-A4CC1208912A}">
      <dgm:prSet/>
      <dgm:spPr/>
      <dgm:t>
        <a:bodyPr/>
        <a:lstStyle/>
        <a:p>
          <a:endParaRPr lang="en-US"/>
        </a:p>
      </dgm:t>
    </dgm:pt>
    <dgm:pt modelId="{71FA03DF-164F-4C78-93D2-ABF267EC2DB7}" type="pres">
      <dgm:prSet presAssocID="{50EB865E-CE0C-49C8-A242-587CE3D6848C}" presName="outerComposite" presStyleCnt="0">
        <dgm:presLayoutVars>
          <dgm:chMax val="5"/>
          <dgm:dir/>
          <dgm:resizeHandles val="exact"/>
        </dgm:presLayoutVars>
      </dgm:prSet>
      <dgm:spPr/>
    </dgm:pt>
    <dgm:pt modelId="{D8C45EA7-AE92-4CF6-97CB-FEF0EFC16B49}" type="pres">
      <dgm:prSet presAssocID="{50EB865E-CE0C-49C8-A242-587CE3D6848C}" presName="dummyMaxCanvas" presStyleCnt="0">
        <dgm:presLayoutVars/>
      </dgm:prSet>
      <dgm:spPr/>
    </dgm:pt>
    <dgm:pt modelId="{1E5B214D-6D6E-4ED1-8E55-AAEB8094C196}" type="pres">
      <dgm:prSet presAssocID="{50EB865E-CE0C-49C8-A242-587CE3D6848C}" presName="ThreeNodes_1" presStyleLbl="node1" presStyleIdx="0" presStyleCnt="3">
        <dgm:presLayoutVars>
          <dgm:bulletEnabled val="1"/>
        </dgm:presLayoutVars>
      </dgm:prSet>
      <dgm:spPr/>
    </dgm:pt>
    <dgm:pt modelId="{59795AB3-6170-4FDE-AEE4-4A26B2D765E4}" type="pres">
      <dgm:prSet presAssocID="{50EB865E-CE0C-49C8-A242-587CE3D6848C}" presName="ThreeNodes_2" presStyleLbl="node1" presStyleIdx="1" presStyleCnt="3">
        <dgm:presLayoutVars>
          <dgm:bulletEnabled val="1"/>
        </dgm:presLayoutVars>
      </dgm:prSet>
      <dgm:spPr/>
    </dgm:pt>
    <dgm:pt modelId="{FA756315-A9F9-47B3-BE7B-6916AC164F84}" type="pres">
      <dgm:prSet presAssocID="{50EB865E-CE0C-49C8-A242-587CE3D6848C}" presName="ThreeNodes_3" presStyleLbl="node1" presStyleIdx="2" presStyleCnt="3">
        <dgm:presLayoutVars>
          <dgm:bulletEnabled val="1"/>
        </dgm:presLayoutVars>
      </dgm:prSet>
      <dgm:spPr/>
    </dgm:pt>
    <dgm:pt modelId="{F444FE16-E395-4E55-8E8C-8597D065A99A}" type="pres">
      <dgm:prSet presAssocID="{50EB865E-CE0C-49C8-A242-587CE3D6848C}" presName="ThreeConn_1-2" presStyleLbl="fgAccFollowNode1" presStyleIdx="0" presStyleCnt="2">
        <dgm:presLayoutVars>
          <dgm:bulletEnabled val="1"/>
        </dgm:presLayoutVars>
      </dgm:prSet>
      <dgm:spPr/>
    </dgm:pt>
    <dgm:pt modelId="{75DAA472-6CF3-44B3-B573-81E9C36F4DC7}" type="pres">
      <dgm:prSet presAssocID="{50EB865E-CE0C-49C8-A242-587CE3D6848C}" presName="ThreeConn_2-3" presStyleLbl="fgAccFollowNode1" presStyleIdx="1" presStyleCnt="2">
        <dgm:presLayoutVars>
          <dgm:bulletEnabled val="1"/>
        </dgm:presLayoutVars>
      </dgm:prSet>
      <dgm:spPr/>
    </dgm:pt>
    <dgm:pt modelId="{AB316B4C-1248-461F-8A23-6A1FDBA2C210}" type="pres">
      <dgm:prSet presAssocID="{50EB865E-CE0C-49C8-A242-587CE3D6848C}" presName="ThreeNodes_1_text" presStyleLbl="node1" presStyleIdx="2" presStyleCnt="3">
        <dgm:presLayoutVars>
          <dgm:bulletEnabled val="1"/>
        </dgm:presLayoutVars>
      </dgm:prSet>
      <dgm:spPr/>
    </dgm:pt>
    <dgm:pt modelId="{8E684645-01FC-429F-9DB1-C55E09C97EDC}" type="pres">
      <dgm:prSet presAssocID="{50EB865E-CE0C-49C8-A242-587CE3D6848C}" presName="ThreeNodes_2_text" presStyleLbl="node1" presStyleIdx="2" presStyleCnt="3">
        <dgm:presLayoutVars>
          <dgm:bulletEnabled val="1"/>
        </dgm:presLayoutVars>
      </dgm:prSet>
      <dgm:spPr/>
    </dgm:pt>
    <dgm:pt modelId="{FDAA5AD2-465C-4FDB-A449-C7BED9DDAE1F}" type="pres">
      <dgm:prSet presAssocID="{50EB865E-CE0C-49C8-A242-587CE3D6848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CF2F1C07-B7D9-4909-BCAE-AD101A043C3B}" type="presOf" srcId="{25E11190-87BB-4AD2-B556-80E2278058EC}" destId="{75DAA472-6CF3-44B3-B573-81E9C36F4DC7}" srcOrd="0" destOrd="0" presId="urn:microsoft.com/office/officeart/2005/8/layout/vProcess5"/>
    <dgm:cxn modelId="{AFCABA0A-4F8C-4D6E-9D48-8C5CF445A26F}" type="presOf" srcId="{CF45D12A-7399-4331-B4AE-3E3728758C74}" destId="{8E684645-01FC-429F-9DB1-C55E09C97EDC}" srcOrd="1" destOrd="0" presId="urn:microsoft.com/office/officeart/2005/8/layout/vProcess5"/>
    <dgm:cxn modelId="{F24B9211-3D65-4837-BE52-B02A4C4FB9FA}" srcId="{50EB865E-CE0C-49C8-A242-587CE3D6848C}" destId="{FB3EF4BD-8821-42E7-9571-04452B7D6EE8}" srcOrd="0" destOrd="0" parTransId="{9C1D3F17-97BB-4033-B5A0-0E39F0BD075D}" sibTransId="{BAC36C87-05C2-4468-B6F0-96BB49C57E92}"/>
    <dgm:cxn modelId="{89121D31-C10A-41EE-9C42-F6BB4DD3766D}" type="presOf" srcId="{85F04421-D064-420B-9ED6-E23E2840BB39}" destId="{FDAA5AD2-465C-4FDB-A449-C7BED9DDAE1F}" srcOrd="1" destOrd="0" presId="urn:microsoft.com/office/officeart/2005/8/layout/vProcess5"/>
    <dgm:cxn modelId="{990A8938-E77A-40C1-B559-DB268CE14F16}" srcId="{50EB865E-CE0C-49C8-A242-587CE3D6848C}" destId="{CF45D12A-7399-4331-B4AE-3E3728758C74}" srcOrd="1" destOrd="0" parTransId="{BD963DE9-1B5D-42F5-9B7C-78D7077314C5}" sibTransId="{25E11190-87BB-4AD2-B556-80E2278058EC}"/>
    <dgm:cxn modelId="{039D1A41-E8FC-4F6E-81AB-1DC1DB179AE0}" type="presOf" srcId="{FB3EF4BD-8821-42E7-9571-04452B7D6EE8}" destId="{1E5B214D-6D6E-4ED1-8E55-AAEB8094C196}" srcOrd="0" destOrd="0" presId="urn:microsoft.com/office/officeart/2005/8/layout/vProcess5"/>
    <dgm:cxn modelId="{69C75363-EE85-46F7-8DA1-318419BE5955}" type="presOf" srcId="{CF45D12A-7399-4331-B4AE-3E3728758C74}" destId="{59795AB3-6170-4FDE-AEE4-4A26B2D765E4}" srcOrd="0" destOrd="0" presId="urn:microsoft.com/office/officeart/2005/8/layout/vProcess5"/>
    <dgm:cxn modelId="{9939A888-D270-4FAD-A6E6-D5138BECE0F0}" type="presOf" srcId="{FB3EF4BD-8821-42E7-9571-04452B7D6EE8}" destId="{AB316B4C-1248-461F-8A23-6A1FDBA2C210}" srcOrd="1" destOrd="0" presId="urn:microsoft.com/office/officeart/2005/8/layout/vProcess5"/>
    <dgm:cxn modelId="{950706A4-89AF-4408-BBE3-A3A92AD8EE82}" type="presOf" srcId="{85F04421-D064-420B-9ED6-E23E2840BB39}" destId="{FA756315-A9F9-47B3-BE7B-6916AC164F84}" srcOrd="0" destOrd="0" presId="urn:microsoft.com/office/officeart/2005/8/layout/vProcess5"/>
    <dgm:cxn modelId="{A5399DAB-487E-437A-82D4-965BE420BD8A}" type="presOf" srcId="{50EB865E-CE0C-49C8-A242-587CE3D6848C}" destId="{71FA03DF-164F-4C78-93D2-ABF267EC2DB7}" srcOrd="0" destOrd="0" presId="urn:microsoft.com/office/officeart/2005/8/layout/vProcess5"/>
    <dgm:cxn modelId="{09BE42E5-5BBC-4868-A810-A4CC1208912A}" srcId="{50EB865E-CE0C-49C8-A242-587CE3D6848C}" destId="{85F04421-D064-420B-9ED6-E23E2840BB39}" srcOrd="2" destOrd="0" parTransId="{0F5A39F7-8A15-4289-9E89-190BC69E197F}" sibTransId="{8DBDC6DB-DA76-4F5A-B450-C15DCD6CBF8A}"/>
    <dgm:cxn modelId="{1F8745FF-F45D-4474-B014-BA70A427553B}" type="presOf" srcId="{BAC36C87-05C2-4468-B6F0-96BB49C57E92}" destId="{F444FE16-E395-4E55-8E8C-8597D065A99A}" srcOrd="0" destOrd="0" presId="urn:microsoft.com/office/officeart/2005/8/layout/vProcess5"/>
    <dgm:cxn modelId="{7EE21568-8AFA-4635-A20B-DBFF3A025C5F}" type="presParOf" srcId="{71FA03DF-164F-4C78-93D2-ABF267EC2DB7}" destId="{D8C45EA7-AE92-4CF6-97CB-FEF0EFC16B49}" srcOrd="0" destOrd="0" presId="urn:microsoft.com/office/officeart/2005/8/layout/vProcess5"/>
    <dgm:cxn modelId="{CF8186DC-6EEF-4EDA-A637-00EBA6CA12E9}" type="presParOf" srcId="{71FA03DF-164F-4C78-93D2-ABF267EC2DB7}" destId="{1E5B214D-6D6E-4ED1-8E55-AAEB8094C196}" srcOrd="1" destOrd="0" presId="urn:microsoft.com/office/officeart/2005/8/layout/vProcess5"/>
    <dgm:cxn modelId="{C230CE5F-15BE-4DE2-A456-DA187C3A7E92}" type="presParOf" srcId="{71FA03DF-164F-4C78-93D2-ABF267EC2DB7}" destId="{59795AB3-6170-4FDE-AEE4-4A26B2D765E4}" srcOrd="2" destOrd="0" presId="urn:microsoft.com/office/officeart/2005/8/layout/vProcess5"/>
    <dgm:cxn modelId="{EB89741F-6245-4B22-BDB8-70DC6F9EAFE9}" type="presParOf" srcId="{71FA03DF-164F-4C78-93D2-ABF267EC2DB7}" destId="{FA756315-A9F9-47B3-BE7B-6916AC164F84}" srcOrd="3" destOrd="0" presId="urn:microsoft.com/office/officeart/2005/8/layout/vProcess5"/>
    <dgm:cxn modelId="{DD4B1317-25C3-4190-8C94-B9DA9B294609}" type="presParOf" srcId="{71FA03DF-164F-4C78-93D2-ABF267EC2DB7}" destId="{F444FE16-E395-4E55-8E8C-8597D065A99A}" srcOrd="4" destOrd="0" presId="urn:microsoft.com/office/officeart/2005/8/layout/vProcess5"/>
    <dgm:cxn modelId="{A16B77C4-E672-4C59-9ACD-5696DD945DA5}" type="presParOf" srcId="{71FA03DF-164F-4C78-93D2-ABF267EC2DB7}" destId="{75DAA472-6CF3-44B3-B573-81E9C36F4DC7}" srcOrd="5" destOrd="0" presId="urn:microsoft.com/office/officeart/2005/8/layout/vProcess5"/>
    <dgm:cxn modelId="{9E63658E-88C1-40DD-AB59-D26678B6A407}" type="presParOf" srcId="{71FA03DF-164F-4C78-93D2-ABF267EC2DB7}" destId="{AB316B4C-1248-461F-8A23-6A1FDBA2C210}" srcOrd="6" destOrd="0" presId="urn:microsoft.com/office/officeart/2005/8/layout/vProcess5"/>
    <dgm:cxn modelId="{EE1D5B69-DF63-47C2-AF00-17DE79929C26}" type="presParOf" srcId="{71FA03DF-164F-4C78-93D2-ABF267EC2DB7}" destId="{8E684645-01FC-429F-9DB1-C55E09C97EDC}" srcOrd="7" destOrd="0" presId="urn:microsoft.com/office/officeart/2005/8/layout/vProcess5"/>
    <dgm:cxn modelId="{33D20F87-4133-4231-A5A8-B4B620BB3E15}" type="presParOf" srcId="{71FA03DF-164F-4C78-93D2-ABF267EC2DB7}" destId="{FDAA5AD2-465C-4FDB-A449-C7BED9DDAE1F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4C264A-7EBA-4CAD-9DEA-F83F2608E5FD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6E45CA4-C991-406A-8C3C-FF9943CCCBD0}">
      <dgm:prSet/>
      <dgm:spPr/>
      <dgm:t>
        <a:bodyPr/>
        <a:lstStyle/>
        <a:p>
          <a:r>
            <a:rPr lang="en-US" b="1"/>
            <a:t>Member Satisfaction</a:t>
          </a:r>
          <a:r>
            <a:rPr lang="en-US"/>
            <a:t>: Deliver quality and affordability.</a:t>
          </a:r>
        </a:p>
      </dgm:t>
    </dgm:pt>
    <dgm:pt modelId="{81605586-7F6B-4215-82D4-B79E5E0ED245}" type="parTrans" cxnId="{CE70756F-9801-4630-9A98-A531E36DF961}">
      <dgm:prSet/>
      <dgm:spPr/>
      <dgm:t>
        <a:bodyPr/>
        <a:lstStyle/>
        <a:p>
          <a:endParaRPr lang="en-US"/>
        </a:p>
      </dgm:t>
    </dgm:pt>
    <dgm:pt modelId="{9D55E18C-3555-4913-BA5C-3CB026DED2BA}" type="sibTrans" cxnId="{CE70756F-9801-4630-9A98-A531E36DF961}">
      <dgm:prSet/>
      <dgm:spPr/>
      <dgm:t>
        <a:bodyPr/>
        <a:lstStyle/>
        <a:p>
          <a:endParaRPr lang="en-US"/>
        </a:p>
      </dgm:t>
    </dgm:pt>
    <dgm:pt modelId="{A5C0DD20-C4E3-4DDE-8BE9-67D38DCA2D62}">
      <dgm:prSet/>
      <dgm:spPr/>
      <dgm:t>
        <a:bodyPr/>
        <a:lstStyle/>
        <a:p>
          <a:r>
            <a:rPr lang="en-US" b="1"/>
            <a:t>Employee Care</a:t>
          </a:r>
          <a:r>
            <a:rPr lang="en-US"/>
            <a:t>: Ensure fair wages and growth opportunities.</a:t>
          </a:r>
        </a:p>
      </dgm:t>
    </dgm:pt>
    <dgm:pt modelId="{C2179A89-6836-401C-9E89-B7F14D178B2C}" type="parTrans" cxnId="{541536B7-ECA6-4E8B-B448-2A478147EDD2}">
      <dgm:prSet/>
      <dgm:spPr/>
      <dgm:t>
        <a:bodyPr/>
        <a:lstStyle/>
        <a:p>
          <a:endParaRPr lang="en-US"/>
        </a:p>
      </dgm:t>
    </dgm:pt>
    <dgm:pt modelId="{2B5E7987-4590-4F32-ABBB-EBA4978C48F2}" type="sibTrans" cxnId="{541536B7-ECA6-4E8B-B448-2A478147EDD2}">
      <dgm:prSet/>
      <dgm:spPr/>
      <dgm:t>
        <a:bodyPr/>
        <a:lstStyle/>
        <a:p>
          <a:endParaRPr lang="en-US"/>
        </a:p>
      </dgm:t>
    </dgm:pt>
    <dgm:pt modelId="{2B1F0E09-C86F-4E33-B7E3-7244E2CC140D}">
      <dgm:prSet/>
      <dgm:spPr/>
      <dgm:t>
        <a:bodyPr/>
        <a:lstStyle/>
        <a:p>
          <a:r>
            <a:rPr lang="en-US" b="1"/>
            <a:t>Sustainability</a:t>
          </a:r>
          <a:r>
            <a:rPr lang="en-US"/>
            <a:t>: Commit to eco-friendly practices.</a:t>
          </a:r>
        </a:p>
      </dgm:t>
    </dgm:pt>
    <dgm:pt modelId="{31DE2300-5914-4D03-B6DC-5A5F66D8DF53}" type="parTrans" cxnId="{AE0E2167-6F0A-487D-98D8-F8ABD41CA5EC}">
      <dgm:prSet/>
      <dgm:spPr/>
      <dgm:t>
        <a:bodyPr/>
        <a:lstStyle/>
        <a:p>
          <a:endParaRPr lang="en-US"/>
        </a:p>
      </dgm:t>
    </dgm:pt>
    <dgm:pt modelId="{F8C8F65F-CC7C-43F4-84F4-418A4FC8C441}" type="sibTrans" cxnId="{AE0E2167-6F0A-487D-98D8-F8ABD41CA5EC}">
      <dgm:prSet/>
      <dgm:spPr/>
      <dgm:t>
        <a:bodyPr/>
        <a:lstStyle/>
        <a:p>
          <a:endParaRPr lang="en-US"/>
        </a:p>
      </dgm:t>
    </dgm:pt>
    <dgm:pt modelId="{5B8045A6-E98B-4AA5-A705-542F97C7E870}">
      <dgm:prSet/>
      <dgm:spPr/>
      <dgm:t>
        <a:bodyPr/>
        <a:lstStyle/>
        <a:p>
          <a:r>
            <a:rPr lang="en-US" b="1"/>
            <a:t>Operational Efficiency</a:t>
          </a:r>
          <a:r>
            <a:rPr lang="en-US"/>
            <a:t>: Streamline operations for low costs.</a:t>
          </a:r>
        </a:p>
      </dgm:t>
    </dgm:pt>
    <dgm:pt modelId="{121DE55A-C29D-47DA-BE55-9B1A44CD7C8A}" type="parTrans" cxnId="{B0835236-10CA-4647-996C-633DFACD852B}">
      <dgm:prSet/>
      <dgm:spPr/>
      <dgm:t>
        <a:bodyPr/>
        <a:lstStyle/>
        <a:p>
          <a:endParaRPr lang="en-US"/>
        </a:p>
      </dgm:t>
    </dgm:pt>
    <dgm:pt modelId="{083FC0C1-95C6-454E-B3AC-632C40F40126}" type="sibTrans" cxnId="{B0835236-10CA-4647-996C-633DFACD852B}">
      <dgm:prSet/>
      <dgm:spPr/>
      <dgm:t>
        <a:bodyPr/>
        <a:lstStyle/>
        <a:p>
          <a:endParaRPr lang="en-US"/>
        </a:p>
      </dgm:t>
    </dgm:pt>
    <dgm:pt modelId="{C3DECB56-4520-4DA5-AA3A-AB768D71185C}" type="pres">
      <dgm:prSet presAssocID="{474C264A-7EBA-4CAD-9DEA-F83F2608E5FD}" presName="outerComposite" presStyleCnt="0">
        <dgm:presLayoutVars>
          <dgm:chMax val="5"/>
          <dgm:dir/>
          <dgm:resizeHandles val="exact"/>
        </dgm:presLayoutVars>
      </dgm:prSet>
      <dgm:spPr/>
    </dgm:pt>
    <dgm:pt modelId="{34D11344-2512-45DA-8BD7-3786197BEC87}" type="pres">
      <dgm:prSet presAssocID="{474C264A-7EBA-4CAD-9DEA-F83F2608E5FD}" presName="dummyMaxCanvas" presStyleCnt="0">
        <dgm:presLayoutVars/>
      </dgm:prSet>
      <dgm:spPr/>
    </dgm:pt>
    <dgm:pt modelId="{2DA565AF-23CC-4A1F-B9DB-F3CCA7588FB0}" type="pres">
      <dgm:prSet presAssocID="{474C264A-7EBA-4CAD-9DEA-F83F2608E5FD}" presName="FourNodes_1" presStyleLbl="node1" presStyleIdx="0" presStyleCnt="4">
        <dgm:presLayoutVars>
          <dgm:bulletEnabled val="1"/>
        </dgm:presLayoutVars>
      </dgm:prSet>
      <dgm:spPr/>
    </dgm:pt>
    <dgm:pt modelId="{2C55EAC4-93CC-4F83-8861-6DF5DC1CF249}" type="pres">
      <dgm:prSet presAssocID="{474C264A-7EBA-4CAD-9DEA-F83F2608E5FD}" presName="FourNodes_2" presStyleLbl="node1" presStyleIdx="1" presStyleCnt="4">
        <dgm:presLayoutVars>
          <dgm:bulletEnabled val="1"/>
        </dgm:presLayoutVars>
      </dgm:prSet>
      <dgm:spPr/>
    </dgm:pt>
    <dgm:pt modelId="{1A0B7048-2285-474C-A4F1-95031C728908}" type="pres">
      <dgm:prSet presAssocID="{474C264A-7EBA-4CAD-9DEA-F83F2608E5FD}" presName="FourNodes_3" presStyleLbl="node1" presStyleIdx="2" presStyleCnt="4">
        <dgm:presLayoutVars>
          <dgm:bulletEnabled val="1"/>
        </dgm:presLayoutVars>
      </dgm:prSet>
      <dgm:spPr/>
    </dgm:pt>
    <dgm:pt modelId="{CCAB8D9B-737D-4E7E-869E-750E48E83CA7}" type="pres">
      <dgm:prSet presAssocID="{474C264A-7EBA-4CAD-9DEA-F83F2608E5FD}" presName="FourNodes_4" presStyleLbl="node1" presStyleIdx="3" presStyleCnt="4">
        <dgm:presLayoutVars>
          <dgm:bulletEnabled val="1"/>
        </dgm:presLayoutVars>
      </dgm:prSet>
      <dgm:spPr/>
    </dgm:pt>
    <dgm:pt modelId="{371EC200-1124-496B-A01A-35FA357B767B}" type="pres">
      <dgm:prSet presAssocID="{474C264A-7EBA-4CAD-9DEA-F83F2608E5FD}" presName="FourConn_1-2" presStyleLbl="fgAccFollowNode1" presStyleIdx="0" presStyleCnt="3">
        <dgm:presLayoutVars>
          <dgm:bulletEnabled val="1"/>
        </dgm:presLayoutVars>
      </dgm:prSet>
      <dgm:spPr/>
    </dgm:pt>
    <dgm:pt modelId="{75A08149-95E7-4809-87E5-C5C8F4995F20}" type="pres">
      <dgm:prSet presAssocID="{474C264A-7EBA-4CAD-9DEA-F83F2608E5FD}" presName="FourConn_2-3" presStyleLbl="fgAccFollowNode1" presStyleIdx="1" presStyleCnt="3">
        <dgm:presLayoutVars>
          <dgm:bulletEnabled val="1"/>
        </dgm:presLayoutVars>
      </dgm:prSet>
      <dgm:spPr/>
    </dgm:pt>
    <dgm:pt modelId="{16468AE6-BD27-49B0-A8A6-35F8285C172B}" type="pres">
      <dgm:prSet presAssocID="{474C264A-7EBA-4CAD-9DEA-F83F2608E5FD}" presName="FourConn_3-4" presStyleLbl="fgAccFollowNode1" presStyleIdx="2" presStyleCnt="3">
        <dgm:presLayoutVars>
          <dgm:bulletEnabled val="1"/>
        </dgm:presLayoutVars>
      </dgm:prSet>
      <dgm:spPr/>
    </dgm:pt>
    <dgm:pt modelId="{1240AA4B-D508-46CB-BBDF-2FCCA57B6BAF}" type="pres">
      <dgm:prSet presAssocID="{474C264A-7EBA-4CAD-9DEA-F83F2608E5FD}" presName="FourNodes_1_text" presStyleLbl="node1" presStyleIdx="3" presStyleCnt="4">
        <dgm:presLayoutVars>
          <dgm:bulletEnabled val="1"/>
        </dgm:presLayoutVars>
      </dgm:prSet>
      <dgm:spPr/>
    </dgm:pt>
    <dgm:pt modelId="{DCCCAAAF-B9E4-46B6-94F1-B1EDE780A05B}" type="pres">
      <dgm:prSet presAssocID="{474C264A-7EBA-4CAD-9DEA-F83F2608E5FD}" presName="FourNodes_2_text" presStyleLbl="node1" presStyleIdx="3" presStyleCnt="4">
        <dgm:presLayoutVars>
          <dgm:bulletEnabled val="1"/>
        </dgm:presLayoutVars>
      </dgm:prSet>
      <dgm:spPr/>
    </dgm:pt>
    <dgm:pt modelId="{89F7372F-4CCE-4A91-A5D7-E071FBC7EE4F}" type="pres">
      <dgm:prSet presAssocID="{474C264A-7EBA-4CAD-9DEA-F83F2608E5FD}" presName="FourNodes_3_text" presStyleLbl="node1" presStyleIdx="3" presStyleCnt="4">
        <dgm:presLayoutVars>
          <dgm:bulletEnabled val="1"/>
        </dgm:presLayoutVars>
      </dgm:prSet>
      <dgm:spPr/>
    </dgm:pt>
    <dgm:pt modelId="{56E46A49-68A5-49B4-B1BE-3036CA95C48A}" type="pres">
      <dgm:prSet presAssocID="{474C264A-7EBA-4CAD-9DEA-F83F2608E5F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BF47513-1353-4399-8DD4-2C6DF6CB370B}" type="presOf" srcId="{A5C0DD20-C4E3-4DDE-8BE9-67D38DCA2D62}" destId="{DCCCAAAF-B9E4-46B6-94F1-B1EDE780A05B}" srcOrd="1" destOrd="0" presId="urn:microsoft.com/office/officeart/2005/8/layout/vProcess5"/>
    <dgm:cxn modelId="{6EA8A420-7B08-4895-961B-4D76298CA5AD}" type="presOf" srcId="{2B5E7987-4590-4F32-ABBB-EBA4978C48F2}" destId="{75A08149-95E7-4809-87E5-C5C8F4995F20}" srcOrd="0" destOrd="0" presId="urn:microsoft.com/office/officeart/2005/8/layout/vProcess5"/>
    <dgm:cxn modelId="{48D13E36-AD7B-4D0D-8D6B-1908E8C9B02B}" type="presOf" srcId="{F8C8F65F-CC7C-43F4-84F4-418A4FC8C441}" destId="{16468AE6-BD27-49B0-A8A6-35F8285C172B}" srcOrd="0" destOrd="0" presId="urn:microsoft.com/office/officeart/2005/8/layout/vProcess5"/>
    <dgm:cxn modelId="{B0835236-10CA-4647-996C-633DFACD852B}" srcId="{474C264A-7EBA-4CAD-9DEA-F83F2608E5FD}" destId="{5B8045A6-E98B-4AA5-A705-542F97C7E870}" srcOrd="3" destOrd="0" parTransId="{121DE55A-C29D-47DA-BE55-9B1A44CD7C8A}" sibTransId="{083FC0C1-95C6-454E-B3AC-632C40F40126}"/>
    <dgm:cxn modelId="{BE91E93A-7BCC-4AF4-86C5-8415F4726C15}" type="presOf" srcId="{474C264A-7EBA-4CAD-9DEA-F83F2608E5FD}" destId="{C3DECB56-4520-4DA5-AA3A-AB768D71185C}" srcOrd="0" destOrd="0" presId="urn:microsoft.com/office/officeart/2005/8/layout/vProcess5"/>
    <dgm:cxn modelId="{AE0E2167-6F0A-487D-98D8-F8ABD41CA5EC}" srcId="{474C264A-7EBA-4CAD-9DEA-F83F2608E5FD}" destId="{2B1F0E09-C86F-4E33-B7E3-7244E2CC140D}" srcOrd="2" destOrd="0" parTransId="{31DE2300-5914-4D03-B6DC-5A5F66D8DF53}" sibTransId="{F8C8F65F-CC7C-43F4-84F4-418A4FC8C441}"/>
    <dgm:cxn modelId="{CE70756F-9801-4630-9A98-A531E36DF961}" srcId="{474C264A-7EBA-4CAD-9DEA-F83F2608E5FD}" destId="{86E45CA4-C991-406A-8C3C-FF9943CCCBD0}" srcOrd="0" destOrd="0" parTransId="{81605586-7F6B-4215-82D4-B79E5E0ED245}" sibTransId="{9D55E18C-3555-4913-BA5C-3CB026DED2BA}"/>
    <dgm:cxn modelId="{A961CD7F-4F09-4EE2-85B7-8129A620CABE}" type="presOf" srcId="{5B8045A6-E98B-4AA5-A705-542F97C7E870}" destId="{CCAB8D9B-737D-4E7E-869E-750E48E83CA7}" srcOrd="0" destOrd="0" presId="urn:microsoft.com/office/officeart/2005/8/layout/vProcess5"/>
    <dgm:cxn modelId="{88340588-3B7F-4986-9AE9-C7D892CD2DF6}" type="presOf" srcId="{86E45CA4-C991-406A-8C3C-FF9943CCCBD0}" destId="{2DA565AF-23CC-4A1F-B9DB-F3CCA7588FB0}" srcOrd="0" destOrd="0" presId="urn:microsoft.com/office/officeart/2005/8/layout/vProcess5"/>
    <dgm:cxn modelId="{214D1DA9-F0E6-4990-88E6-26AA1E7B8664}" type="presOf" srcId="{9D55E18C-3555-4913-BA5C-3CB026DED2BA}" destId="{371EC200-1124-496B-A01A-35FA357B767B}" srcOrd="0" destOrd="0" presId="urn:microsoft.com/office/officeart/2005/8/layout/vProcess5"/>
    <dgm:cxn modelId="{491072AD-B0F9-48A9-872C-FB185F780FCA}" type="presOf" srcId="{A5C0DD20-C4E3-4DDE-8BE9-67D38DCA2D62}" destId="{2C55EAC4-93CC-4F83-8861-6DF5DC1CF249}" srcOrd="0" destOrd="0" presId="urn:microsoft.com/office/officeart/2005/8/layout/vProcess5"/>
    <dgm:cxn modelId="{35D3E5AD-A537-4B77-AB9C-4DB64FE9D7F6}" type="presOf" srcId="{5B8045A6-E98B-4AA5-A705-542F97C7E870}" destId="{56E46A49-68A5-49B4-B1BE-3036CA95C48A}" srcOrd="1" destOrd="0" presId="urn:microsoft.com/office/officeart/2005/8/layout/vProcess5"/>
    <dgm:cxn modelId="{693F96B2-4A02-4D84-8F7F-20919C78B0BE}" type="presOf" srcId="{2B1F0E09-C86F-4E33-B7E3-7244E2CC140D}" destId="{89F7372F-4CCE-4A91-A5D7-E071FBC7EE4F}" srcOrd="1" destOrd="0" presId="urn:microsoft.com/office/officeart/2005/8/layout/vProcess5"/>
    <dgm:cxn modelId="{541536B7-ECA6-4E8B-B448-2A478147EDD2}" srcId="{474C264A-7EBA-4CAD-9DEA-F83F2608E5FD}" destId="{A5C0DD20-C4E3-4DDE-8BE9-67D38DCA2D62}" srcOrd="1" destOrd="0" parTransId="{C2179A89-6836-401C-9E89-B7F14D178B2C}" sibTransId="{2B5E7987-4590-4F32-ABBB-EBA4978C48F2}"/>
    <dgm:cxn modelId="{793734D8-56DD-4684-886A-86394F1C7193}" type="presOf" srcId="{86E45CA4-C991-406A-8C3C-FF9943CCCBD0}" destId="{1240AA4B-D508-46CB-BBDF-2FCCA57B6BAF}" srcOrd="1" destOrd="0" presId="urn:microsoft.com/office/officeart/2005/8/layout/vProcess5"/>
    <dgm:cxn modelId="{0522FBE2-5631-40A2-856F-D0711617CDA8}" type="presOf" srcId="{2B1F0E09-C86F-4E33-B7E3-7244E2CC140D}" destId="{1A0B7048-2285-474C-A4F1-95031C728908}" srcOrd="0" destOrd="0" presId="urn:microsoft.com/office/officeart/2005/8/layout/vProcess5"/>
    <dgm:cxn modelId="{2865930A-2041-4505-B33C-D1F6CD7820F2}" type="presParOf" srcId="{C3DECB56-4520-4DA5-AA3A-AB768D71185C}" destId="{34D11344-2512-45DA-8BD7-3786197BEC87}" srcOrd="0" destOrd="0" presId="urn:microsoft.com/office/officeart/2005/8/layout/vProcess5"/>
    <dgm:cxn modelId="{B73206EF-3513-47D5-9EBD-715BA191F7A3}" type="presParOf" srcId="{C3DECB56-4520-4DA5-AA3A-AB768D71185C}" destId="{2DA565AF-23CC-4A1F-B9DB-F3CCA7588FB0}" srcOrd="1" destOrd="0" presId="urn:microsoft.com/office/officeart/2005/8/layout/vProcess5"/>
    <dgm:cxn modelId="{51154924-E7FB-4ABC-8348-FD20E4BDDC8A}" type="presParOf" srcId="{C3DECB56-4520-4DA5-AA3A-AB768D71185C}" destId="{2C55EAC4-93CC-4F83-8861-6DF5DC1CF249}" srcOrd="2" destOrd="0" presId="urn:microsoft.com/office/officeart/2005/8/layout/vProcess5"/>
    <dgm:cxn modelId="{FC9F92C2-D0D9-41FC-A31C-4AB4C83DA670}" type="presParOf" srcId="{C3DECB56-4520-4DA5-AA3A-AB768D71185C}" destId="{1A0B7048-2285-474C-A4F1-95031C728908}" srcOrd="3" destOrd="0" presId="urn:microsoft.com/office/officeart/2005/8/layout/vProcess5"/>
    <dgm:cxn modelId="{FF85C60E-3EBD-4C33-A3BD-878D1E30BF07}" type="presParOf" srcId="{C3DECB56-4520-4DA5-AA3A-AB768D71185C}" destId="{CCAB8D9B-737D-4E7E-869E-750E48E83CA7}" srcOrd="4" destOrd="0" presId="urn:microsoft.com/office/officeart/2005/8/layout/vProcess5"/>
    <dgm:cxn modelId="{D9A5C130-2657-45E2-AF1A-9F813E143DF0}" type="presParOf" srcId="{C3DECB56-4520-4DA5-AA3A-AB768D71185C}" destId="{371EC200-1124-496B-A01A-35FA357B767B}" srcOrd="5" destOrd="0" presId="urn:microsoft.com/office/officeart/2005/8/layout/vProcess5"/>
    <dgm:cxn modelId="{C28B8EB3-E1BF-49DF-963C-331DA5B5FFF8}" type="presParOf" srcId="{C3DECB56-4520-4DA5-AA3A-AB768D71185C}" destId="{75A08149-95E7-4809-87E5-C5C8F4995F20}" srcOrd="6" destOrd="0" presId="urn:microsoft.com/office/officeart/2005/8/layout/vProcess5"/>
    <dgm:cxn modelId="{4FD94F28-55AC-40AC-B496-D268D6445177}" type="presParOf" srcId="{C3DECB56-4520-4DA5-AA3A-AB768D71185C}" destId="{16468AE6-BD27-49B0-A8A6-35F8285C172B}" srcOrd="7" destOrd="0" presId="urn:microsoft.com/office/officeart/2005/8/layout/vProcess5"/>
    <dgm:cxn modelId="{B5BE29D6-EAEB-4EE9-BB66-11CBA6ABF53D}" type="presParOf" srcId="{C3DECB56-4520-4DA5-AA3A-AB768D71185C}" destId="{1240AA4B-D508-46CB-BBDF-2FCCA57B6BAF}" srcOrd="8" destOrd="0" presId="urn:microsoft.com/office/officeart/2005/8/layout/vProcess5"/>
    <dgm:cxn modelId="{4A5AC99C-6812-4AA2-86A5-BDDD5900E6A5}" type="presParOf" srcId="{C3DECB56-4520-4DA5-AA3A-AB768D71185C}" destId="{DCCCAAAF-B9E4-46B6-94F1-B1EDE780A05B}" srcOrd="9" destOrd="0" presId="urn:microsoft.com/office/officeart/2005/8/layout/vProcess5"/>
    <dgm:cxn modelId="{C24B61B8-E548-4838-8474-841841B6CEDF}" type="presParOf" srcId="{C3DECB56-4520-4DA5-AA3A-AB768D71185C}" destId="{89F7372F-4CCE-4A91-A5D7-E071FBC7EE4F}" srcOrd="10" destOrd="0" presId="urn:microsoft.com/office/officeart/2005/8/layout/vProcess5"/>
    <dgm:cxn modelId="{C0ECDAC3-E047-4504-BCEF-B6F5E5B214C3}" type="presParOf" srcId="{C3DECB56-4520-4DA5-AA3A-AB768D71185C}" destId="{56E46A49-68A5-49B4-B1BE-3036CA95C48A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B214D-6D6E-4ED1-8E55-AAEB8094C196}">
      <dsp:nvSpPr>
        <dsp:cNvPr id="0" name=""/>
        <dsp:cNvSpPr/>
      </dsp:nvSpPr>
      <dsp:spPr>
        <a:xfrm>
          <a:off x="0" y="0"/>
          <a:ext cx="8990074" cy="125264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Founded: 1983; Headquarters: Issaquah, WA</a:t>
          </a:r>
        </a:p>
      </dsp:txBody>
      <dsp:txXfrm>
        <a:off x="36689" y="36689"/>
        <a:ext cx="7638376" cy="1179262"/>
      </dsp:txXfrm>
    </dsp:sp>
    <dsp:sp modelId="{59795AB3-6170-4FDE-AEE4-4A26B2D765E4}">
      <dsp:nvSpPr>
        <dsp:cNvPr id="0" name=""/>
        <dsp:cNvSpPr/>
      </dsp:nvSpPr>
      <dsp:spPr>
        <a:xfrm>
          <a:off x="793241" y="1461413"/>
          <a:ext cx="8990074" cy="1252640"/>
        </a:xfrm>
        <a:prstGeom prst="roundRect">
          <a:avLst>
            <a:gd name="adj" fmla="val 10000"/>
          </a:avLst>
        </a:prstGeom>
        <a:solidFill>
          <a:schemeClr val="accent2">
            <a:hueOff val="1264967"/>
            <a:satOff val="-23931"/>
            <a:lumOff val="-166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876 warehouses (2024): 602 U.S., 107 Canada, 40 Mexico, 33 Japan, etc.</a:t>
          </a:r>
        </a:p>
      </dsp:txBody>
      <dsp:txXfrm>
        <a:off x="829930" y="1498102"/>
        <a:ext cx="7309238" cy="1179262"/>
      </dsp:txXfrm>
    </dsp:sp>
    <dsp:sp modelId="{FA756315-A9F9-47B3-BE7B-6916AC164F84}">
      <dsp:nvSpPr>
        <dsp:cNvPr id="0" name=""/>
        <dsp:cNvSpPr/>
      </dsp:nvSpPr>
      <dsp:spPr>
        <a:xfrm>
          <a:off x="1586483" y="2922827"/>
          <a:ext cx="8990074" cy="1252640"/>
        </a:xfrm>
        <a:prstGeom prst="roundRect">
          <a:avLst>
            <a:gd name="adj" fmla="val 10000"/>
          </a:avLst>
        </a:prstGeom>
        <a:solidFill>
          <a:schemeClr val="accent2">
            <a:hueOff val="2529934"/>
            <a:satOff val="-47862"/>
            <a:lumOff val="-333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Business Model: Membership-based, low prices, high-quality via bulk purchasing and Kirkland Signature.</a:t>
          </a:r>
        </a:p>
      </dsp:txBody>
      <dsp:txXfrm>
        <a:off x="1623172" y="2959516"/>
        <a:ext cx="7309238" cy="1179262"/>
      </dsp:txXfrm>
    </dsp:sp>
    <dsp:sp modelId="{F444FE16-E395-4E55-8E8C-8597D065A99A}">
      <dsp:nvSpPr>
        <dsp:cNvPr id="0" name=""/>
        <dsp:cNvSpPr/>
      </dsp:nvSpPr>
      <dsp:spPr>
        <a:xfrm>
          <a:off x="8175858" y="949918"/>
          <a:ext cx="814216" cy="81421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359057" y="949918"/>
        <a:ext cx="447818" cy="612698"/>
      </dsp:txXfrm>
    </dsp:sp>
    <dsp:sp modelId="{75DAA472-6CF3-44B3-B573-81E9C36F4DC7}">
      <dsp:nvSpPr>
        <dsp:cNvPr id="0" name=""/>
        <dsp:cNvSpPr/>
      </dsp:nvSpPr>
      <dsp:spPr>
        <a:xfrm>
          <a:off x="8969099" y="2402981"/>
          <a:ext cx="814216" cy="81421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524137"/>
            <a:satOff val="-59496"/>
            <a:lumOff val="-3708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3524137"/>
              <a:satOff val="-59496"/>
              <a:lumOff val="-37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152298" y="2402981"/>
        <a:ext cx="447818" cy="6126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A565AF-23CC-4A1F-B9DB-F3CCA7588FB0}">
      <dsp:nvSpPr>
        <dsp:cNvPr id="0" name=""/>
        <dsp:cNvSpPr/>
      </dsp:nvSpPr>
      <dsp:spPr>
        <a:xfrm>
          <a:off x="0" y="0"/>
          <a:ext cx="4657413" cy="11633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Member Satisfaction</a:t>
          </a:r>
          <a:r>
            <a:rPr lang="en-US" sz="2200" kern="1200"/>
            <a:t>: Deliver quality and affordability.</a:t>
          </a:r>
        </a:p>
      </dsp:txBody>
      <dsp:txXfrm>
        <a:off x="34073" y="34073"/>
        <a:ext cx="3303779" cy="1095191"/>
      </dsp:txXfrm>
    </dsp:sp>
    <dsp:sp modelId="{2C55EAC4-93CC-4F83-8861-6DF5DC1CF249}">
      <dsp:nvSpPr>
        <dsp:cNvPr id="0" name=""/>
        <dsp:cNvSpPr/>
      </dsp:nvSpPr>
      <dsp:spPr>
        <a:xfrm>
          <a:off x="390058" y="1374853"/>
          <a:ext cx="4657413" cy="1163337"/>
        </a:xfrm>
        <a:prstGeom prst="roundRect">
          <a:avLst>
            <a:gd name="adj" fmla="val 10000"/>
          </a:avLst>
        </a:prstGeom>
        <a:solidFill>
          <a:schemeClr val="accent2">
            <a:hueOff val="843311"/>
            <a:satOff val="-15954"/>
            <a:lumOff val="-111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Employee Care</a:t>
          </a:r>
          <a:r>
            <a:rPr lang="en-US" sz="2200" kern="1200"/>
            <a:t>: Ensure fair wages and growth opportunities.</a:t>
          </a:r>
        </a:p>
      </dsp:txBody>
      <dsp:txXfrm>
        <a:off x="424131" y="1408926"/>
        <a:ext cx="3443039" cy="1095191"/>
      </dsp:txXfrm>
    </dsp:sp>
    <dsp:sp modelId="{1A0B7048-2285-474C-A4F1-95031C728908}">
      <dsp:nvSpPr>
        <dsp:cNvPr id="0" name=""/>
        <dsp:cNvSpPr/>
      </dsp:nvSpPr>
      <dsp:spPr>
        <a:xfrm>
          <a:off x="774295" y="2749706"/>
          <a:ext cx="4657413" cy="1163337"/>
        </a:xfrm>
        <a:prstGeom prst="roundRect">
          <a:avLst>
            <a:gd name="adj" fmla="val 10000"/>
          </a:avLst>
        </a:prstGeom>
        <a:solidFill>
          <a:schemeClr val="accent2">
            <a:hueOff val="1686623"/>
            <a:satOff val="-31908"/>
            <a:lumOff val="-222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Sustainability</a:t>
          </a:r>
          <a:r>
            <a:rPr lang="en-US" sz="2200" kern="1200"/>
            <a:t>: Commit to eco-friendly practices.</a:t>
          </a:r>
        </a:p>
      </dsp:txBody>
      <dsp:txXfrm>
        <a:off x="808368" y="2783779"/>
        <a:ext cx="3448861" cy="1095191"/>
      </dsp:txXfrm>
    </dsp:sp>
    <dsp:sp modelId="{CCAB8D9B-737D-4E7E-869E-750E48E83CA7}">
      <dsp:nvSpPr>
        <dsp:cNvPr id="0" name=""/>
        <dsp:cNvSpPr/>
      </dsp:nvSpPr>
      <dsp:spPr>
        <a:xfrm>
          <a:off x="1164353" y="4124560"/>
          <a:ext cx="4657413" cy="1163337"/>
        </a:xfrm>
        <a:prstGeom prst="roundRect">
          <a:avLst>
            <a:gd name="adj" fmla="val 10000"/>
          </a:avLst>
        </a:prstGeom>
        <a:solidFill>
          <a:schemeClr val="accent2">
            <a:hueOff val="2529934"/>
            <a:satOff val="-47862"/>
            <a:lumOff val="-333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Operational Efficiency</a:t>
          </a:r>
          <a:r>
            <a:rPr lang="en-US" sz="2200" kern="1200"/>
            <a:t>: Streamline operations for low costs.</a:t>
          </a:r>
        </a:p>
      </dsp:txBody>
      <dsp:txXfrm>
        <a:off x="1198426" y="4158633"/>
        <a:ext cx="3443039" cy="1095191"/>
      </dsp:txXfrm>
    </dsp:sp>
    <dsp:sp modelId="{371EC200-1124-496B-A01A-35FA357B767B}">
      <dsp:nvSpPr>
        <dsp:cNvPr id="0" name=""/>
        <dsp:cNvSpPr/>
      </dsp:nvSpPr>
      <dsp:spPr>
        <a:xfrm>
          <a:off x="3901244" y="891010"/>
          <a:ext cx="756169" cy="75616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4071382" y="891010"/>
        <a:ext cx="415893" cy="569017"/>
      </dsp:txXfrm>
    </dsp:sp>
    <dsp:sp modelId="{75A08149-95E7-4809-87E5-C5C8F4995F20}">
      <dsp:nvSpPr>
        <dsp:cNvPr id="0" name=""/>
        <dsp:cNvSpPr/>
      </dsp:nvSpPr>
      <dsp:spPr>
        <a:xfrm>
          <a:off x="4291302" y="2265864"/>
          <a:ext cx="756169" cy="75616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762068"/>
            <a:satOff val="-29748"/>
            <a:lumOff val="-1854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1762068"/>
              <a:satOff val="-29748"/>
              <a:lumOff val="-185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4461440" y="2265864"/>
        <a:ext cx="415893" cy="569017"/>
      </dsp:txXfrm>
    </dsp:sp>
    <dsp:sp modelId="{16468AE6-BD27-49B0-A8A6-35F8285C172B}">
      <dsp:nvSpPr>
        <dsp:cNvPr id="0" name=""/>
        <dsp:cNvSpPr/>
      </dsp:nvSpPr>
      <dsp:spPr>
        <a:xfrm>
          <a:off x="4675539" y="3640717"/>
          <a:ext cx="756169" cy="75616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524137"/>
            <a:satOff val="-59496"/>
            <a:lumOff val="-3708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3524137"/>
              <a:satOff val="-59496"/>
              <a:lumOff val="-37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4845677" y="3640717"/>
        <a:ext cx="415893" cy="5690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87DE6118-2437-4B30-8E3C-4D2BE6020583}" type="datetimeFigureOut">
              <a:rPr lang="en-US" smtClean="0"/>
              <a:pPr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333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551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817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87DE6118-2437-4B30-8E3C-4D2BE6020583}" type="datetimeFigureOut">
              <a:rPr lang="en-US" smtClean="0"/>
              <a:t>7/25/2025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97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7/25/2025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173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894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87DE6118-2437-4B30-8E3C-4D2BE6020583}" type="datetimeFigureOut">
              <a:rPr lang="en-US" smtClean="0"/>
              <a:t>7/25/2025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465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316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7/25/2025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944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727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87DE6118-2437-4B30-8E3C-4D2BE6020583}" type="datetimeFigureOut">
              <a:rPr lang="en-US" smtClean="0"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80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094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istoryoasis.com/post/costco-acquisitions-mergers" TargetMode="External"/><Relationship Id="rId2" Type="http://schemas.openxmlformats.org/officeDocument/2006/relationships/hyperlink" Target="http://Www.historyoasis.com" TargetMode="Externa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businessmodelanalyst.com/costco-swot-analysis/?srsltid=AfmBOorvd3rbopxdHlYyvJSgwc5fCCVri1EBut6EseyEedFqnhp98bpt" TargetMode="External"/><Relationship Id="rId4" Type="http://schemas.openxmlformats.org/officeDocument/2006/relationships/hyperlink" Target="https://businessmodelanalyst.com/costco-value-chain-analysis/?srsltid=AfmBOopR1NWMnv9EHAd5CmPwFZny9pBX5VCPnxi_rJnOQjrOd8NSVP4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9539D-4771-7AC3-C9FB-3E9BEC9A1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659467"/>
            <a:ext cx="8361229" cy="2227213"/>
          </a:xfrm>
        </p:spPr>
        <p:txBody>
          <a:bodyPr>
            <a:normAutofit/>
          </a:bodyPr>
          <a:lstStyle/>
          <a:p>
            <a:r>
              <a:rPr lang="en-US" sz="4800" dirty="0"/>
              <a:t>Case Study: Charting the Future through Strategy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74CDD-7F76-8F30-1333-27AEAA45DC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0" rIns="91440" bIns="45720" rtlCol="0" anchor="t">
            <a:normAutofit/>
          </a:bodyPr>
          <a:lstStyle/>
          <a:p>
            <a:endParaRPr lang="en-US" dirty="0"/>
          </a:p>
          <a:p>
            <a:r>
              <a:rPr lang="en-US" dirty="0"/>
              <a:t>By: Mitchell Campbell, Jaden Patterson, Kenyon Rasheed, Kobe Ha</a:t>
            </a:r>
          </a:p>
        </p:txBody>
      </p:sp>
    </p:spTree>
    <p:extLst>
      <p:ext uri="{BB962C8B-B14F-4D97-AF65-F5344CB8AC3E}">
        <p14:creationId xmlns:p14="http://schemas.microsoft.com/office/powerpoint/2010/main" val="2749924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DAE3342-9DFC-49D4-B09C-25E310769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32" name="Freeform 5">
              <a:extLst>
                <a:ext uri="{FF2B5EF4-FFF2-40B4-BE49-F238E27FC236}">
                  <a16:creationId xmlns:a16="http://schemas.microsoft.com/office/drawing/2014/main" id="{E49E0D20-8423-4612-99A5-14AEF8F6BB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6">
              <a:extLst>
                <a:ext uri="{FF2B5EF4-FFF2-40B4-BE49-F238E27FC236}">
                  <a16:creationId xmlns:a16="http://schemas.microsoft.com/office/drawing/2014/main" id="{57C2C108-5A30-48CA-9203-56747AEB7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7">
              <a:extLst>
                <a:ext uri="{FF2B5EF4-FFF2-40B4-BE49-F238E27FC236}">
                  <a16:creationId xmlns:a16="http://schemas.microsoft.com/office/drawing/2014/main" id="{1A343912-2EFC-408E-A862-5C9BF108DC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8">
              <a:extLst>
                <a:ext uri="{FF2B5EF4-FFF2-40B4-BE49-F238E27FC236}">
                  <a16:creationId xmlns:a16="http://schemas.microsoft.com/office/drawing/2014/main" id="{AA50D1CF-9DAE-4CF6-B829-E66CEE9D5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9">
              <a:extLst>
                <a:ext uri="{FF2B5EF4-FFF2-40B4-BE49-F238E27FC236}">
                  <a16:creationId xmlns:a16="http://schemas.microsoft.com/office/drawing/2014/main" id="{FE5799A4-0568-433E-BF41-752CF516A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10">
              <a:extLst>
                <a:ext uri="{FF2B5EF4-FFF2-40B4-BE49-F238E27FC236}">
                  <a16:creationId xmlns:a16="http://schemas.microsoft.com/office/drawing/2014/main" id="{CDBB86ED-F16F-4C28-BDD5-72D771176F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11">
              <a:extLst>
                <a:ext uri="{FF2B5EF4-FFF2-40B4-BE49-F238E27FC236}">
                  <a16:creationId xmlns:a16="http://schemas.microsoft.com/office/drawing/2014/main" id="{3347939E-8B76-4CFC-B2EC-63A7E2278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12">
              <a:extLst>
                <a:ext uri="{FF2B5EF4-FFF2-40B4-BE49-F238E27FC236}">
                  <a16:creationId xmlns:a16="http://schemas.microsoft.com/office/drawing/2014/main" id="{FA1DD132-02E4-4CD3-B496-BFF924558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13">
              <a:extLst>
                <a:ext uri="{FF2B5EF4-FFF2-40B4-BE49-F238E27FC236}">
                  <a16:creationId xmlns:a16="http://schemas.microsoft.com/office/drawing/2014/main" id="{710BDA52-A7D7-4E4E-9F36-EC8F983EA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14">
              <a:extLst>
                <a:ext uri="{FF2B5EF4-FFF2-40B4-BE49-F238E27FC236}">
                  <a16:creationId xmlns:a16="http://schemas.microsoft.com/office/drawing/2014/main" id="{B1BDF852-319F-42B8-9A50-7C9A9387C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15">
              <a:extLst>
                <a:ext uri="{FF2B5EF4-FFF2-40B4-BE49-F238E27FC236}">
                  <a16:creationId xmlns:a16="http://schemas.microsoft.com/office/drawing/2014/main" id="{3AACE376-C01E-4F1F-91B7-39D0274BF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16">
              <a:extLst>
                <a:ext uri="{FF2B5EF4-FFF2-40B4-BE49-F238E27FC236}">
                  <a16:creationId xmlns:a16="http://schemas.microsoft.com/office/drawing/2014/main" id="{7F612F4C-050E-459D-9771-ED088374A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17">
              <a:extLst>
                <a:ext uri="{FF2B5EF4-FFF2-40B4-BE49-F238E27FC236}">
                  <a16:creationId xmlns:a16="http://schemas.microsoft.com/office/drawing/2014/main" id="{94E4211B-3E41-4905-8F4E-76811B9E5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18">
              <a:extLst>
                <a:ext uri="{FF2B5EF4-FFF2-40B4-BE49-F238E27FC236}">
                  <a16:creationId xmlns:a16="http://schemas.microsoft.com/office/drawing/2014/main" id="{6AEC87EE-0CB8-43DE-8FEB-4586A92E8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19">
              <a:extLst>
                <a:ext uri="{FF2B5EF4-FFF2-40B4-BE49-F238E27FC236}">
                  <a16:creationId xmlns:a16="http://schemas.microsoft.com/office/drawing/2014/main" id="{277C1C5D-7BDC-47E4-8B81-C3C4AE949B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20">
              <a:extLst>
                <a:ext uri="{FF2B5EF4-FFF2-40B4-BE49-F238E27FC236}">
                  <a16:creationId xmlns:a16="http://schemas.microsoft.com/office/drawing/2014/main" id="{7A2A6EF8-9768-4478-9CD3-DFA547CEF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21">
              <a:extLst>
                <a:ext uri="{FF2B5EF4-FFF2-40B4-BE49-F238E27FC236}">
                  <a16:creationId xmlns:a16="http://schemas.microsoft.com/office/drawing/2014/main" id="{1FD9091C-E8FA-4ADA-937F-A74426ED1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22">
              <a:extLst>
                <a:ext uri="{FF2B5EF4-FFF2-40B4-BE49-F238E27FC236}">
                  <a16:creationId xmlns:a16="http://schemas.microsoft.com/office/drawing/2014/main" id="{B69923E7-63C4-47CE-956E-09D384D4F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23">
              <a:extLst>
                <a:ext uri="{FF2B5EF4-FFF2-40B4-BE49-F238E27FC236}">
                  <a16:creationId xmlns:a16="http://schemas.microsoft.com/office/drawing/2014/main" id="{A2576784-872E-494C-A041-0E346226B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B54F73D8-62C2-4127-9D19-01219BBB9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CFD8CA02-9BE5-4B82-8129-6EF618402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4" name="Isosceles Triangle 153">
              <a:extLst>
                <a:ext uri="{FF2B5EF4-FFF2-40B4-BE49-F238E27FC236}">
                  <a16:creationId xmlns:a16="http://schemas.microsoft.com/office/drawing/2014/main" id="{01515E68-030C-4313-B300-35253163D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1937725F-1DDF-4225-937E-106DBB047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157" name="Rectangle 156">
            <a:extLst>
              <a:ext uri="{FF2B5EF4-FFF2-40B4-BE49-F238E27FC236}">
                <a16:creationId xmlns:a16="http://schemas.microsoft.com/office/drawing/2014/main" id="{3284CC39-D8CD-41CB-840E-9548894FC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92AD70D7-DC56-43AC-97C6-5FA60897B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60" name="Freeform 5">
              <a:extLst>
                <a:ext uri="{FF2B5EF4-FFF2-40B4-BE49-F238E27FC236}">
                  <a16:creationId xmlns:a16="http://schemas.microsoft.com/office/drawing/2014/main" id="{71540362-4F3A-4A26-9A84-DA46C6A3DD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>
                <a:gd name="T0" fmla="*/ 1752 w 2038"/>
                <a:gd name="T1" fmla="*/ 1169 h 1169"/>
                <a:gd name="T2" fmla="*/ 1487 w 2038"/>
                <a:gd name="T3" fmla="*/ 334 h 1169"/>
                <a:gd name="T4" fmla="*/ 860 w 2038"/>
                <a:gd name="T5" fmla="*/ 22 h 1169"/>
                <a:gd name="T6" fmla="*/ 199 w 2038"/>
                <a:gd name="T7" fmla="*/ 318 h 1169"/>
                <a:gd name="T8" fmla="*/ 399 w 2038"/>
                <a:gd name="T9" fmla="*/ 1165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6">
              <a:extLst>
                <a:ext uri="{FF2B5EF4-FFF2-40B4-BE49-F238E27FC236}">
                  <a16:creationId xmlns:a16="http://schemas.microsoft.com/office/drawing/2014/main" id="{19FA0D57-0D1A-4273-A68D-BF72FCE37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>
                <a:gd name="T0" fmla="*/ 1025 w 1549"/>
                <a:gd name="T1" fmla="*/ 1016 h 1017"/>
                <a:gd name="T2" fmla="*/ 1443 w 1549"/>
                <a:gd name="T3" fmla="*/ 592 h 1017"/>
                <a:gd name="T4" fmla="*/ 782 w 1549"/>
                <a:gd name="T5" fmla="*/ 53 h 1017"/>
                <a:gd name="T6" fmla="*/ 150 w 1549"/>
                <a:gd name="T7" fmla="*/ 329 h 1017"/>
                <a:gd name="T8" fmla="*/ 477 w 1549"/>
                <a:gd name="T9" fmla="*/ 101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7">
              <a:extLst>
                <a:ext uri="{FF2B5EF4-FFF2-40B4-BE49-F238E27FC236}">
                  <a16:creationId xmlns:a16="http://schemas.microsoft.com/office/drawing/2014/main" id="{9FCED40E-563C-4896-9480-08AE1C0FC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>
                <a:gd name="T0" fmla="*/ 1302 w 1688"/>
                <a:gd name="T1" fmla="*/ 1066 h 1066"/>
                <a:gd name="T2" fmla="*/ 1613 w 1688"/>
                <a:gd name="T3" fmla="*/ 850 h 1066"/>
                <a:gd name="T4" fmla="*/ 1517 w 1688"/>
                <a:gd name="T5" fmla="*/ 471 h 1066"/>
                <a:gd name="T6" fmla="*/ 798 w 1688"/>
                <a:gd name="T7" fmla="*/ 28 h 1066"/>
                <a:gd name="T8" fmla="*/ 181 w 1688"/>
                <a:gd name="T9" fmla="*/ 333 h 1066"/>
                <a:gd name="T10" fmla="*/ 420 w 1688"/>
                <a:gd name="T11" fmla="*/ 1066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8">
              <a:extLst>
                <a:ext uri="{FF2B5EF4-FFF2-40B4-BE49-F238E27FC236}">
                  <a16:creationId xmlns:a16="http://schemas.microsoft.com/office/drawing/2014/main" id="{3C54D80E-14F7-4294-8C61-4585B7A974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>
                <a:gd name="T0" fmla="*/ 1873 w 2171"/>
                <a:gd name="T1" fmla="*/ 1326 h 1326"/>
                <a:gd name="T2" fmla="*/ 1609 w 2171"/>
                <a:gd name="T3" fmla="*/ 473 h 1326"/>
                <a:gd name="T4" fmla="*/ 880 w 2171"/>
                <a:gd name="T5" fmla="*/ 63 h 1326"/>
                <a:gd name="T6" fmla="*/ 0 w 2171"/>
                <a:gd name="T7" fmla="*/ 423 h 1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9">
              <a:extLst>
                <a:ext uri="{FF2B5EF4-FFF2-40B4-BE49-F238E27FC236}">
                  <a16:creationId xmlns:a16="http://schemas.microsoft.com/office/drawing/2014/main" id="{02B66E6C-EDB1-4927-9ED4-4BA096070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>
                <a:gd name="T0" fmla="*/ 0 w 106"/>
                <a:gd name="T1" fmla="*/ 0 h 143"/>
                <a:gd name="T2" fmla="*/ 106 w 106"/>
                <a:gd name="T3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10">
              <a:extLst>
                <a:ext uri="{FF2B5EF4-FFF2-40B4-BE49-F238E27FC236}">
                  <a16:creationId xmlns:a16="http://schemas.microsoft.com/office/drawing/2014/main" id="{114FA337-2005-4C83-9A89-D0BBB13E74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>
                <a:gd name="T0" fmla="*/ 2046 w 2330"/>
                <a:gd name="T1" fmla="*/ 1452 h 1452"/>
                <a:gd name="T2" fmla="*/ 1813 w 2330"/>
                <a:gd name="T3" fmla="*/ 601 h 1452"/>
                <a:gd name="T4" fmla="*/ 956 w 2330"/>
                <a:gd name="T5" fmla="*/ 97 h 1452"/>
                <a:gd name="T6" fmla="*/ 0 w 2330"/>
                <a:gd name="T7" fmla="*/ 366 h 1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11">
              <a:extLst>
                <a:ext uri="{FF2B5EF4-FFF2-40B4-BE49-F238E27FC236}">
                  <a16:creationId xmlns:a16="http://schemas.microsoft.com/office/drawing/2014/main" id="{5D45CDA4-917B-4D66-8F14-B9BCB59A2A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>
                <a:gd name="T0" fmla="*/ 1094 w 1216"/>
                <a:gd name="T1" fmla="*/ 1436 h 1436"/>
                <a:gd name="T2" fmla="*/ 709 w 1216"/>
                <a:gd name="T3" fmla="*/ 551 h 1436"/>
                <a:gd name="T4" fmla="*/ 0 w 1216"/>
                <a:gd name="T5" fmla="*/ 0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12">
              <a:extLst>
                <a:ext uri="{FF2B5EF4-FFF2-40B4-BE49-F238E27FC236}">
                  <a16:creationId xmlns:a16="http://schemas.microsoft.com/office/drawing/2014/main" id="{C6C12577-3A13-4F72-8530-D5192D8F9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>
                <a:gd name="T0" fmla="*/ 222 w 222"/>
                <a:gd name="T1" fmla="*/ 0 h 129"/>
                <a:gd name="T2" fmla="*/ 0 w 222"/>
                <a:gd name="T3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13">
              <a:extLst>
                <a:ext uri="{FF2B5EF4-FFF2-40B4-BE49-F238E27FC236}">
                  <a16:creationId xmlns:a16="http://schemas.microsoft.com/office/drawing/2014/main" id="{9E2351B3-FDB0-4995-90AE-6FE65395E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>
                <a:gd name="T0" fmla="*/ 1067 w 1174"/>
                <a:gd name="T1" fmla="*/ 1440 h 1440"/>
                <a:gd name="T2" fmla="*/ 698 w 1174"/>
                <a:gd name="T3" fmla="*/ 577 h 1440"/>
                <a:gd name="T4" fmla="*/ 0 w 1174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14">
              <a:extLst>
                <a:ext uri="{FF2B5EF4-FFF2-40B4-BE49-F238E27FC236}">
                  <a16:creationId xmlns:a16="http://schemas.microsoft.com/office/drawing/2014/main" id="{FAC0E3B4-2E4A-421D-AADF-1D4E354358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>
                <a:gd name="T0" fmla="*/ 125 w 125"/>
                <a:gd name="T1" fmla="*/ 0 h 74"/>
                <a:gd name="T2" fmla="*/ 0 w 125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15">
              <a:extLst>
                <a:ext uri="{FF2B5EF4-FFF2-40B4-BE49-F238E27FC236}">
                  <a16:creationId xmlns:a16="http://schemas.microsoft.com/office/drawing/2014/main" id="{D961ABBF-EA9C-4303-AEE9-D3A2794DB6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>
                <a:gd name="T0" fmla="*/ 1056 w 1155"/>
                <a:gd name="T1" fmla="*/ 1440 h 1440"/>
                <a:gd name="T2" fmla="*/ 686 w 1155"/>
                <a:gd name="T3" fmla="*/ 580 h 1440"/>
                <a:gd name="T4" fmla="*/ 0 w 1155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16">
              <a:extLst>
                <a:ext uri="{FF2B5EF4-FFF2-40B4-BE49-F238E27FC236}">
                  <a16:creationId xmlns:a16="http://schemas.microsoft.com/office/drawing/2014/main" id="{718CB438-7C75-48A0-8713-8150C9ACF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>
                <a:gd name="T0" fmla="*/ 75 w 75"/>
                <a:gd name="T1" fmla="*/ 0 h 45"/>
                <a:gd name="T2" fmla="*/ 0 w 75"/>
                <a:gd name="T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7">
              <a:extLst>
                <a:ext uri="{FF2B5EF4-FFF2-40B4-BE49-F238E27FC236}">
                  <a16:creationId xmlns:a16="http://schemas.microsoft.com/office/drawing/2014/main" id="{659E70B6-1232-4C74-9E75-5DAC8787C3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>
                <a:gd name="T0" fmla="*/ 1053 w 1160"/>
                <a:gd name="T1" fmla="*/ 1441 h 1441"/>
                <a:gd name="T2" fmla="*/ 705 w 1160"/>
                <a:gd name="T3" fmla="*/ 599 h 1441"/>
                <a:gd name="T4" fmla="*/ 0 w 1160"/>
                <a:gd name="T5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Freeform 18">
              <a:extLst>
                <a:ext uri="{FF2B5EF4-FFF2-40B4-BE49-F238E27FC236}">
                  <a16:creationId xmlns:a16="http://schemas.microsoft.com/office/drawing/2014/main" id="{D9C149F8-0F98-48D7-A5DC-B21E38983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>
                <a:gd name="T0" fmla="*/ 1040 w 1137"/>
                <a:gd name="T1" fmla="*/ 1440 h 1440"/>
                <a:gd name="T2" fmla="*/ 698 w 1137"/>
                <a:gd name="T3" fmla="*/ 611 h 1440"/>
                <a:gd name="T4" fmla="*/ 0 w 1137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Freeform 19">
              <a:extLst>
                <a:ext uri="{FF2B5EF4-FFF2-40B4-BE49-F238E27FC236}">
                  <a16:creationId xmlns:a16="http://schemas.microsoft.com/office/drawing/2014/main" id="{67158460-C306-4B67-AB8A-8A8E62F39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>
                <a:gd name="T0" fmla="*/ 1011 w 1058"/>
                <a:gd name="T1" fmla="*/ 1439 h 1439"/>
                <a:gd name="T2" fmla="*/ 648 w 1058"/>
                <a:gd name="T3" fmla="*/ 617 h 1439"/>
                <a:gd name="T4" fmla="*/ 0 w 1058"/>
                <a:gd name="T5" fmla="*/ 0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Freeform 20">
              <a:extLst>
                <a:ext uri="{FF2B5EF4-FFF2-40B4-BE49-F238E27FC236}">
                  <a16:creationId xmlns:a16="http://schemas.microsoft.com/office/drawing/2014/main" id="{09616B12-4FBF-42D2-9389-57DD6BD93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>
                <a:gd name="T0" fmla="*/ 718 w 718"/>
                <a:gd name="T1" fmla="*/ 575 h 575"/>
                <a:gd name="T2" fmla="*/ 0 w 718"/>
                <a:gd name="T3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Freeform 21">
              <a:extLst>
                <a:ext uri="{FF2B5EF4-FFF2-40B4-BE49-F238E27FC236}">
                  <a16:creationId xmlns:a16="http://schemas.microsoft.com/office/drawing/2014/main" id="{CAECCE71-0F6D-4044-A496-B0EB842D4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>
                <a:gd name="T0" fmla="*/ 620 w 620"/>
                <a:gd name="T1" fmla="*/ 536 h 536"/>
                <a:gd name="T2" fmla="*/ 0 w 620"/>
                <a:gd name="T3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22">
              <a:extLst>
                <a:ext uri="{FF2B5EF4-FFF2-40B4-BE49-F238E27FC236}">
                  <a16:creationId xmlns:a16="http://schemas.microsoft.com/office/drawing/2014/main" id="{A74F5872-71D7-4C41-9968-932114586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>
                <a:gd name="T0" fmla="*/ 0 w 455"/>
                <a:gd name="T1" fmla="*/ 0 h 285"/>
                <a:gd name="T2" fmla="*/ 455 w 455"/>
                <a:gd name="T3" fmla="*/ 285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Freeform 23">
              <a:extLst>
                <a:ext uri="{FF2B5EF4-FFF2-40B4-BE49-F238E27FC236}">
                  <a16:creationId xmlns:a16="http://schemas.microsoft.com/office/drawing/2014/main" id="{C1787D01-D6C5-4655-8861-56319EA83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>
                <a:gd name="T0" fmla="*/ 0 w 188"/>
                <a:gd name="T1" fmla="*/ 0 h 112"/>
                <a:gd name="T2" fmla="*/ 188 w 188"/>
                <a:gd name="T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8E8B0AD7-EB1D-4120-8144-D9374E6BE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258942" y="3893141"/>
            <a:ext cx="5648782" cy="1771275"/>
            <a:chOff x="3258942" y="3893141"/>
            <a:chExt cx="5648782" cy="1771275"/>
          </a:xfrm>
        </p:grpSpPr>
        <p:sp>
          <p:nvSpPr>
            <p:cNvPr id="181" name="Isosceles Triangle 39">
              <a:extLst>
                <a:ext uri="{FF2B5EF4-FFF2-40B4-BE49-F238E27FC236}">
                  <a16:creationId xmlns:a16="http://schemas.microsoft.com/office/drawing/2014/main" id="{5EBC6443-5354-486E-98FF-11671CB83D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2457EA96-D1B1-4FFC-B4F9-7D37C878B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58942" y="3893141"/>
              <a:ext cx="5648782" cy="14202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E03E9D-B0EE-8CB1-9427-6455AA12E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1238" y="3980237"/>
            <a:ext cx="5495069" cy="765682"/>
          </a:xfrm>
        </p:spPr>
        <p:txBody>
          <a:bodyPr vert="horz" lIns="228600" tIns="228600" rIns="228600" bIns="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3600"/>
              <a:t>Costco Wholesale Corporation</a:t>
            </a:r>
          </a:p>
        </p:txBody>
      </p:sp>
      <p:pic>
        <p:nvPicPr>
          <p:cNvPr id="3" name="Picture 2" descr="A red and blue logo&#10;&#10;AI-generated content may be incorrect.">
            <a:extLst>
              <a:ext uri="{FF2B5EF4-FFF2-40B4-BE49-F238E27FC236}">
                <a16:creationId xmlns:a16="http://schemas.microsoft.com/office/drawing/2014/main" id="{B19A4366-D7E8-E5EB-44A0-A4DBBA62AF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281" r="1" b="13097"/>
          <a:stretch>
            <a:fillRect/>
          </a:stretch>
        </p:blipFill>
        <p:spPr>
          <a:xfrm>
            <a:off x="3258942" y="1175191"/>
            <a:ext cx="5648782" cy="2638998"/>
          </a:xfrm>
          <a:prstGeom prst="rect">
            <a:avLst/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3328212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2413CC-69E6-4BDA-A88D-E4EF8F95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F1F7357-8633-4CE7-BF80-475EE8A2F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E402FE4E-C12D-497C-AF81-F08E4E02B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59247B10-170D-4E62-849A-38FCB43C6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9A587A7-1BEF-45AA-9EFC-6558A8749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AC25B5A1-6EF7-44EC-A2F0-1EDC96A79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80B8582C-7E17-4115-9FF1-979C8405C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6C4AB66-7A18-4E51-935B-237F4CA82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CDF12911-A240-4580-8788-0C49DB1FE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EAE0F5DE-442D-4F6C-B02C-2568ED195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4F24A002-AFDE-4034-85BE-CBF005AE9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36F0721E-B4B0-4A6C-A92C-F8DE92D3A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54D2DC98-69F8-4F2F-9D45-BDFFA5E2B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0A636E33-DC38-40B9-B941-037E5D860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03D30690-68C2-4AEC-9789-1495D97E1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1020B1B9-821B-49FB-BDC9-57DA08CBC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720EDCE4-8B18-413F-989E-E79628E5A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8563351E-0DDD-4FC8-8D0C-1E446E3C1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15E8B705-64E7-4513-B3CB-BF46C357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30DAEE1C-EBB5-47F5-9E76-564FCFDBF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EDB255E9-A3E2-4098-99A1-FE38FAD15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D2507F2A-27AF-4833-8273-5FC9A98863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8DFB8904-0CB8-45AD-ABD2-F7A582365E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7C49E8F-3EB5-FA6F-C721-3EB01F22C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287" y="798881"/>
            <a:ext cx="8673427" cy="10489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  <a:ea typeface="Calibri Light"/>
                <a:cs typeface="Calibri Light"/>
              </a:rPr>
              <a:t>Strategic Overview: Company Background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944175-39A7-26BC-5CFE-6D0C92614C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8430965"/>
              </p:ext>
            </p:extLst>
          </p:nvPr>
        </p:nvGraphicFramePr>
        <p:xfrm>
          <a:off x="807722" y="1990976"/>
          <a:ext cx="10576558" cy="4175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1041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A3BAF07C-C39E-42EB-BB22-8D46691D9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306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8E9CF54-0466-4261-9E62-0249E60E1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>
              <a:extLst>
                <a:ext uri="{FF2B5EF4-FFF2-40B4-BE49-F238E27FC236}">
                  <a16:creationId xmlns:a16="http://schemas.microsoft.com/office/drawing/2014/main" id="{33E32106-E8B1-4F76-9EE6-58537738A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6">
              <a:extLst>
                <a:ext uri="{FF2B5EF4-FFF2-40B4-BE49-F238E27FC236}">
                  <a16:creationId xmlns:a16="http://schemas.microsoft.com/office/drawing/2014/main" id="{C32C2C46-A045-44FB-8A74-5EBD650C2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7">
              <a:extLst>
                <a:ext uri="{FF2B5EF4-FFF2-40B4-BE49-F238E27FC236}">
                  <a16:creationId xmlns:a16="http://schemas.microsoft.com/office/drawing/2014/main" id="{6A76F79C-6683-4940-BCF7-4BCCCEE40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8">
              <a:extLst>
                <a:ext uri="{FF2B5EF4-FFF2-40B4-BE49-F238E27FC236}">
                  <a16:creationId xmlns:a16="http://schemas.microsoft.com/office/drawing/2014/main" id="{FF4675A3-6D07-4B1F-9BFC-AEBEA1AD0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9">
              <a:extLst>
                <a:ext uri="{FF2B5EF4-FFF2-40B4-BE49-F238E27FC236}">
                  <a16:creationId xmlns:a16="http://schemas.microsoft.com/office/drawing/2014/main" id="{765E127A-B6B7-4B1D-B7BD-6C8C969D2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0">
              <a:extLst>
                <a:ext uri="{FF2B5EF4-FFF2-40B4-BE49-F238E27FC236}">
                  <a16:creationId xmlns:a16="http://schemas.microsoft.com/office/drawing/2014/main" id="{3BCA9D9E-C72C-4751-BFA9-10B85CACE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1">
              <a:extLst>
                <a:ext uri="{FF2B5EF4-FFF2-40B4-BE49-F238E27FC236}">
                  <a16:creationId xmlns:a16="http://schemas.microsoft.com/office/drawing/2014/main" id="{080C708C-69BF-441B-AB75-C98160ED0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2">
              <a:extLst>
                <a:ext uri="{FF2B5EF4-FFF2-40B4-BE49-F238E27FC236}">
                  <a16:creationId xmlns:a16="http://schemas.microsoft.com/office/drawing/2014/main" id="{3E79964E-F8F1-4763-8892-7BC3DAE30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3">
              <a:extLst>
                <a:ext uri="{FF2B5EF4-FFF2-40B4-BE49-F238E27FC236}">
                  <a16:creationId xmlns:a16="http://schemas.microsoft.com/office/drawing/2014/main" id="{FE09592A-FCC9-4AE5-BA0B-730C6F3BB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4">
              <a:extLst>
                <a:ext uri="{FF2B5EF4-FFF2-40B4-BE49-F238E27FC236}">
                  <a16:creationId xmlns:a16="http://schemas.microsoft.com/office/drawing/2014/main" id="{96448994-820C-4BC1-ABF3-4579C6F99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5">
              <a:extLst>
                <a:ext uri="{FF2B5EF4-FFF2-40B4-BE49-F238E27FC236}">
                  <a16:creationId xmlns:a16="http://schemas.microsoft.com/office/drawing/2014/main" id="{9BB0D192-565A-42B9-B292-CC032D71A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6">
              <a:extLst>
                <a:ext uri="{FF2B5EF4-FFF2-40B4-BE49-F238E27FC236}">
                  <a16:creationId xmlns:a16="http://schemas.microsoft.com/office/drawing/2014/main" id="{6D1CA09C-5F40-4E92-A7E9-D1FCEE512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7">
              <a:extLst>
                <a:ext uri="{FF2B5EF4-FFF2-40B4-BE49-F238E27FC236}">
                  <a16:creationId xmlns:a16="http://schemas.microsoft.com/office/drawing/2014/main" id="{379F5AA5-2E14-4880-A5A6-07AEF2AD8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8">
              <a:extLst>
                <a:ext uri="{FF2B5EF4-FFF2-40B4-BE49-F238E27FC236}">
                  <a16:creationId xmlns:a16="http://schemas.microsoft.com/office/drawing/2014/main" id="{EF14BD32-D239-4DA3-98B3-775207365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19">
              <a:extLst>
                <a:ext uri="{FF2B5EF4-FFF2-40B4-BE49-F238E27FC236}">
                  <a16:creationId xmlns:a16="http://schemas.microsoft.com/office/drawing/2014/main" id="{CF07B250-E5E4-4624-9BD7-8D513A67B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0">
              <a:extLst>
                <a:ext uri="{FF2B5EF4-FFF2-40B4-BE49-F238E27FC236}">
                  <a16:creationId xmlns:a16="http://schemas.microsoft.com/office/drawing/2014/main" id="{BCC5D120-7C8C-4290-865C-4EE6E4F24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21">
              <a:extLst>
                <a:ext uri="{FF2B5EF4-FFF2-40B4-BE49-F238E27FC236}">
                  <a16:creationId xmlns:a16="http://schemas.microsoft.com/office/drawing/2014/main" id="{C24688C6-CAE5-4EF2-B2BA-A138DA0A24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2">
              <a:extLst>
                <a:ext uri="{FF2B5EF4-FFF2-40B4-BE49-F238E27FC236}">
                  <a16:creationId xmlns:a16="http://schemas.microsoft.com/office/drawing/2014/main" id="{6BD31099-7C13-4901-A04F-632B1CD84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3">
              <a:extLst>
                <a:ext uri="{FF2B5EF4-FFF2-40B4-BE49-F238E27FC236}">
                  <a16:creationId xmlns:a16="http://schemas.microsoft.com/office/drawing/2014/main" id="{679F5FF7-82B2-4033-8FBE-63170C937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5C43A2D-AADC-384E-F48E-847AFB0E2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0" y="4760132"/>
            <a:ext cx="5093596" cy="1777829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  <a:ea typeface="Calibri Light"/>
                <a:cs typeface="Calibri Light"/>
              </a:rPr>
              <a:t>Revised Vision Statement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 descr="A person standing with her arms crossed&#10;&#10;AI-generated content may be incorrect.">
            <a:extLst>
              <a:ext uri="{FF2B5EF4-FFF2-40B4-BE49-F238E27FC236}">
                <a16:creationId xmlns:a16="http://schemas.microsoft.com/office/drawing/2014/main" id="{99160801-8F6F-5C8B-0422-9F3786FEFC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13" b="38970"/>
          <a:stretch>
            <a:fillRect/>
          </a:stretch>
        </p:blipFill>
        <p:spPr>
          <a:xfrm>
            <a:off x="20" y="10"/>
            <a:ext cx="12191980" cy="4599422"/>
          </a:xfrm>
          <a:custGeom>
            <a:avLst/>
            <a:gdLst/>
            <a:ahLst/>
            <a:cxnLst/>
            <a:rect l="l" t="t" r="r" b="b"/>
            <a:pathLst>
              <a:path w="12192000" h="4621300">
                <a:moveTo>
                  <a:pt x="0" y="0"/>
                </a:moveTo>
                <a:lnTo>
                  <a:pt x="12192000" y="0"/>
                </a:lnTo>
                <a:lnTo>
                  <a:pt x="12192000" y="3104412"/>
                </a:lnTo>
                <a:lnTo>
                  <a:pt x="12192000" y="3296537"/>
                </a:lnTo>
                <a:lnTo>
                  <a:pt x="12192000" y="4272355"/>
                </a:lnTo>
                <a:lnTo>
                  <a:pt x="12113803" y="4280638"/>
                </a:lnTo>
                <a:cubicBezTo>
                  <a:pt x="10139508" y="4478587"/>
                  <a:pt x="8237152" y="4571590"/>
                  <a:pt x="6753597" y="4604195"/>
                </a:cubicBezTo>
                <a:cubicBezTo>
                  <a:pt x="4940362" y="4644044"/>
                  <a:pt x="2657278" y="4624714"/>
                  <a:pt x="400746" y="4432852"/>
                </a:cubicBezTo>
                <a:lnTo>
                  <a:pt x="0" y="4395876"/>
                </a:lnTo>
                <a:lnTo>
                  <a:pt x="0" y="3296537"/>
                </a:lnTo>
                <a:lnTo>
                  <a:pt x="0" y="310441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71EB3-61E2-77C8-D3ED-673BE1164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6706" y="4767660"/>
            <a:ext cx="5173613" cy="1770300"/>
          </a:xfrm>
        </p:spPr>
        <p:txBody>
          <a:bodyPr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To lead globally in delivering unmatched value through quality, affordability, and sustainable practices.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324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A3BAF07C-C39E-42EB-BB22-8D46691D9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306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8E9CF54-0466-4261-9E62-0249E60E1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>
              <a:extLst>
                <a:ext uri="{FF2B5EF4-FFF2-40B4-BE49-F238E27FC236}">
                  <a16:creationId xmlns:a16="http://schemas.microsoft.com/office/drawing/2014/main" id="{33E32106-E8B1-4F76-9EE6-58537738A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6">
              <a:extLst>
                <a:ext uri="{FF2B5EF4-FFF2-40B4-BE49-F238E27FC236}">
                  <a16:creationId xmlns:a16="http://schemas.microsoft.com/office/drawing/2014/main" id="{C32C2C46-A045-44FB-8A74-5EBD650C2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7">
              <a:extLst>
                <a:ext uri="{FF2B5EF4-FFF2-40B4-BE49-F238E27FC236}">
                  <a16:creationId xmlns:a16="http://schemas.microsoft.com/office/drawing/2014/main" id="{6A76F79C-6683-4940-BCF7-4BCCCEE40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8">
              <a:extLst>
                <a:ext uri="{FF2B5EF4-FFF2-40B4-BE49-F238E27FC236}">
                  <a16:creationId xmlns:a16="http://schemas.microsoft.com/office/drawing/2014/main" id="{FF4675A3-6D07-4B1F-9BFC-AEBEA1AD0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9">
              <a:extLst>
                <a:ext uri="{FF2B5EF4-FFF2-40B4-BE49-F238E27FC236}">
                  <a16:creationId xmlns:a16="http://schemas.microsoft.com/office/drawing/2014/main" id="{765E127A-B6B7-4B1D-B7BD-6C8C969D2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0">
              <a:extLst>
                <a:ext uri="{FF2B5EF4-FFF2-40B4-BE49-F238E27FC236}">
                  <a16:creationId xmlns:a16="http://schemas.microsoft.com/office/drawing/2014/main" id="{3BCA9D9E-C72C-4751-BFA9-10B85CACE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1">
              <a:extLst>
                <a:ext uri="{FF2B5EF4-FFF2-40B4-BE49-F238E27FC236}">
                  <a16:creationId xmlns:a16="http://schemas.microsoft.com/office/drawing/2014/main" id="{080C708C-69BF-441B-AB75-C98160ED0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2">
              <a:extLst>
                <a:ext uri="{FF2B5EF4-FFF2-40B4-BE49-F238E27FC236}">
                  <a16:creationId xmlns:a16="http://schemas.microsoft.com/office/drawing/2014/main" id="{3E79964E-F8F1-4763-8892-7BC3DAE30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3">
              <a:extLst>
                <a:ext uri="{FF2B5EF4-FFF2-40B4-BE49-F238E27FC236}">
                  <a16:creationId xmlns:a16="http://schemas.microsoft.com/office/drawing/2014/main" id="{FE09592A-FCC9-4AE5-BA0B-730C6F3BB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4">
              <a:extLst>
                <a:ext uri="{FF2B5EF4-FFF2-40B4-BE49-F238E27FC236}">
                  <a16:creationId xmlns:a16="http://schemas.microsoft.com/office/drawing/2014/main" id="{96448994-820C-4BC1-ABF3-4579C6F99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5">
              <a:extLst>
                <a:ext uri="{FF2B5EF4-FFF2-40B4-BE49-F238E27FC236}">
                  <a16:creationId xmlns:a16="http://schemas.microsoft.com/office/drawing/2014/main" id="{9BB0D192-565A-42B9-B292-CC032D71A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6">
              <a:extLst>
                <a:ext uri="{FF2B5EF4-FFF2-40B4-BE49-F238E27FC236}">
                  <a16:creationId xmlns:a16="http://schemas.microsoft.com/office/drawing/2014/main" id="{6D1CA09C-5F40-4E92-A7E9-D1FCEE512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7">
              <a:extLst>
                <a:ext uri="{FF2B5EF4-FFF2-40B4-BE49-F238E27FC236}">
                  <a16:creationId xmlns:a16="http://schemas.microsoft.com/office/drawing/2014/main" id="{379F5AA5-2E14-4880-A5A6-07AEF2AD8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8">
              <a:extLst>
                <a:ext uri="{FF2B5EF4-FFF2-40B4-BE49-F238E27FC236}">
                  <a16:creationId xmlns:a16="http://schemas.microsoft.com/office/drawing/2014/main" id="{EF14BD32-D239-4DA3-98B3-775207365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19">
              <a:extLst>
                <a:ext uri="{FF2B5EF4-FFF2-40B4-BE49-F238E27FC236}">
                  <a16:creationId xmlns:a16="http://schemas.microsoft.com/office/drawing/2014/main" id="{CF07B250-E5E4-4624-9BD7-8D513A67B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0">
              <a:extLst>
                <a:ext uri="{FF2B5EF4-FFF2-40B4-BE49-F238E27FC236}">
                  <a16:creationId xmlns:a16="http://schemas.microsoft.com/office/drawing/2014/main" id="{BCC5D120-7C8C-4290-865C-4EE6E4F24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21">
              <a:extLst>
                <a:ext uri="{FF2B5EF4-FFF2-40B4-BE49-F238E27FC236}">
                  <a16:creationId xmlns:a16="http://schemas.microsoft.com/office/drawing/2014/main" id="{C24688C6-CAE5-4EF2-B2BA-A138DA0A24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2">
              <a:extLst>
                <a:ext uri="{FF2B5EF4-FFF2-40B4-BE49-F238E27FC236}">
                  <a16:creationId xmlns:a16="http://schemas.microsoft.com/office/drawing/2014/main" id="{6BD31099-7C13-4901-A04F-632B1CD84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3">
              <a:extLst>
                <a:ext uri="{FF2B5EF4-FFF2-40B4-BE49-F238E27FC236}">
                  <a16:creationId xmlns:a16="http://schemas.microsoft.com/office/drawing/2014/main" id="{679F5FF7-82B2-4033-8FBE-63170C937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4A1B148-1A83-C38F-7343-B18E8214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0" y="4760132"/>
            <a:ext cx="5093596" cy="1777829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  <a:ea typeface="Calibri Light"/>
                <a:cs typeface="Calibri Light"/>
              </a:rPr>
              <a:t>Revised Mission Statement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37" name="Picture 36" descr="Colorful carved figures of humans">
            <a:extLst>
              <a:ext uri="{FF2B5EF4-FFF2-40B4-BE49-F238E27FC236}">
                <a16:creationId xmlns:a16="http://schemas.microsoft.com/office/drawing/2014/main" id="{9060B432-DB2A-9DB9-365F-08B6506B7F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896" b="7156"/>
          <a:stretch>
            <a:fillRect/>
          </a:stretch>
        </p:blipFill>
        <p:spPr>
          <a:xfrm>
            <a:off x="20" y="10"/>
            <a:ext cx="12191980" cy="4599422"/>
          </a:xfrm>
          <a:custGeom>
            <a:avLst/>
            <a:gdLst/>
            <a:ahLst/>
            <a:cxnLst/>
            <a:rect l="l" t="t" r="r" b="b"/>
            <a:pathLst>
              <a:path w="12192000" h="4621300">
                <a:moveTo>
                  <a:pt x="0" y="0"/>
                </a:moveTo>
                <a:lnTo>
                  <a:pt x="12192000" y="0"/>
                </a:lnTo>
                <a:lnTo>
                  <a:pt x="12192000" y="3104412"/>
                </a:lnTo>
                <a:lnTo>
                  <a:pt x="12192000" y="3296537"/>
                </a:lnTo>
                <a:lnTo>
                  <a:pt x="12192000" y="4272355"/>
                </a:lnTo>
                <a:lnTo>
                  <a:pt x="12113803" y="4280638"/>
                </a:lnTo>
                <a:cubicBezTo>
                  <a:pt x="10139508" y="4478587"/>
                  <a:pt x="8237152" y="4571590"/>
                  <a:pt x="6753597" y="4604195"/>
                </a:cubicBezTo>
                <a:cubicBezTo>
                  <a:pt x="4940362" y="4644044"/>
                  <a:pt x="2657278" y="4624714"/>
                  <a:pt x="400746" y="4432852"/>
                </a:cubicBezTo>
                <a:lnTo>
                  <a:pt x="0" y="4395876"/>
                </a:lnTo>
                <a:lnTo>
                  <a:pt x="0" y="3296537"/>
                </a:lnTo>
                <a:lnTo>
                  <a:pt x="0" y="310441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FB420-D125-9128-44FB-CAFCFB919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6706" y="4767660"/>
            <a:ext cx="5173613" cy="1770300"/>
          </a:xfrm>
        </p:spPr>
        <p:txBody>
          <a:bodyPr>
            <a:normAutofit/>
          </a:bodyPr>
          <a:lstStyle/>
          <a:p>
            <a:r>
              <a:rPr lang="en-US">
                <a:ea typeface="+mn-lt"/>
                <a:cs typeface="+mn-lt"/>
              </a:rPr>
              <a:t>To provide members with superior goods and services at the lowest prices, prioritizing employee welfare, sustainability, and global community impact.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702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45721-746B-8130-F696-F7518750F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Core Values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679AFD-CC0A-A5F9-17BB-764A9FBA3B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9031754"/>
              </p:ext>
            </p:extLst>
          </p:nvPr>
        </p:nvGraphicFramePr>
        <p:xfrm>
          <a:off x="5574890" y="803186"/>
          <a:ext cx="5821767" cy="52878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91699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DFF257A-042C-46B5-80D1-3E8CFD334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2836BD6-A1CD-4253-813F-3EDA642A7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63EE4AB3-C905-497E-988B-4D7394894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774DC5FF-D912-4C9F-811A-337208A3B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E04E6A71-624A-4806-A53E-87BC73A85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E1871C83-254F-49CD-8EA7-8CB7089B8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427141DF-5457-4673-B816-C6C5C72AE9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BC9A176E-C84F-4816-97D4-426B396FC0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981B905A-332A-49BC-9456-7D0337D9B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2EBD9769-DFB9-4970-91FF-137E685AF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21DCB916-2D3C-46BC-9A95-EFC166D96C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189DAD37-FFF7-49FA-8FBB-D20A992D4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D148A64A-D598-4309-BCA9-F67ADE72C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38A95D77-7745-4551-BBD5-3515A074D3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A2C20B7F-80D6-4D48-BB2A-9AEC854948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55589882-0BB8-42B0-B42F-32A75B19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53673B9F-5864-445E-82E7-0A8324FA8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16FF3B3D-59FE-4AE1-AA54-14A691D6B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901CA0F0-4962-4EC5-BA5B-3F0A967FC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3DD02E26-C2AD-4062-85BD-28D172C9E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D7B60BD4-07C1-461F-B38E-B39EBACA3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D81BB3F7-E4A5-4BD9-A70D-FDA6C9127F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B93A80B5-32BA-48BB-941A-4FC64AC62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9C057A66-6E97-4BA5-B4B3-2690ACE3C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682" y="1047102"/>
            <a:ext cx="5936885" cy="502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Isosceles Triangle 22">
            <a:extLst>
              <a:ext uri="{FF2B5EF4-FFF2-40B4-BE49-F238E27FC236}">
                <a16:creationId xmlns:a16="http://schemas.microsoft.com/office/drawing/2014/main" id="{764884A8-16DD-467F-A648-70B32E20B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02131" y="5546507"/>
            <a:ext cx="315988" cy="27240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76681CD-6924-4550-926C-667FC2C6A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682" y="1634393"/>
            <a:ext cx="5935796" cy="39173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F03EFC-8FF0-9B7C-AF34-8BDBBC2D8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827" y="769829"/>
            <a:ext cx="5767566" cy="1072378"/>
          </a:xfrm>
        </p:spPr>
        <p:txBody>
          <a:bodyPr anchor="ctr">
            <a:normAutofit/>
          </a:bodyPr>
          <a:lstStyle/>
          <a:p>
            <a:r>
              <a:rPr lang="en-US" sz="2500" dirty="0">
                <a:ea typeface="Calibri Light"/>
                <a:cs typeface="Calibri Light"/>
              </a:rPr>
              <a:t>Strategic Goals, Activities, and Resources</a:t>
            </a:r>
            <a:endParaRPr lang="en-US"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B2741-D535-D50C-6BA0-D95C6EA98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366" y="2084749"/>
            <a:ext cx="5768442" cy="268360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600" b="1">
                <a:solidFill>
                  <a:srgbClr val="FFFFFE"/>
                </a:solidFill>
                <a:ea typeface="+mn-lt"/>
                <a:cs typeface="+mn-lt"/>
              </a:rPr>
              <a:t>Goal 1: Strengthen E-Commerce</a:t>
            </a:r>
            <a:endParaRPr lang="en-US" sz="1600">
              <a:solidFill>
                <a:srgbClr val="FFFFFE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600" b="1">
                <a:solidFill>
                  <a:srgbClr val="FFFFFE"/>
                </a:solidFill>
                <a:ea typeface="+mn-lt"/>
                <a:cs typeface="+mn-lt"/>
              </a:rPr>
              <a:t>Objective</a:t>
            </a:r>
            <a:r>
              <a:rPr lang="en-US" sz="1600">
                <a:solidFill>
                  <a:srgbClr val="FFFFFE"/>
                </a:solidFill>
                <a:ea typeface="+mn-lt"/>
                <a:cs typeface="+mn-lt"/>
              </a:rPr>
              <a:t>: Increase online sales to 15% of revenue by 2030 (2024: 4.7%, $11.7B).</a:t>
            </a:r>
            <a:endParaRPr lang="en-US" sz="1600">
              <a:solidFill>
                <a:srgbClr val="FFFFFE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600" b="1">
                <a:solidFill>
                  <a:srgbClr val="FFFFFE"/>
                </a:solidFill>
                <a:ea typeface="+mn-lt"/>
                <a:cs typeface="+mn-lt"/>
              </a:rPr>
              <a:t>Activities</a:t>
            </a:r>
            <a:r>
              <a:rPr lang="en-US" sz="1600">
                <a:solidFill>
                  <a:srgbClr val="FFFFFE"/>
                </a:solidFill>
                <a:ea typeface="+mn-lt"/>
                <a:cs typeface="+mn-lt"/>
              </a:rPr>
              <a:t>: Develop AI-driven app with personalized recommendations; expand same-day delivery via Instacart.</a:t>
            </a:r>
          </a:p>
          <a:p>
            <a:pPr>
              <a:lnSpc>
                <a:spcPct val="110000"/>
              </a:lnSpc>
            </a:pPr>
            <a:r>
              <a:rPr lang="en-US" sz="1600" b="1">
                <a:solidFill>
                  <a:srgbClr val="FFFFFE"/>
                </a:solidFill>
                <a:ea typeface="+mn-lt"/>
                <a:cs typeface="+mn-lt"/>
              </a:rPr>
              <a:t>Resources</a:t>
            </a:r>
            <a:r>
              <a:rPr lang="en-US" sz="1600">
                <a:solidFill>
                  <a:srgbClr val="FFFFFE"/>
                </a:solidFill>
                <a:ea typeface="+mn-lt"/>
                <a:cs typeface="+mn-lt"/>
              </a:rPr>
              <a:t>: $500M tech budget; Hyderabad Global Capability Centre for app development.</a:t>
            </a:r>
          </a:p>
          <a:p>
            <a:pPr>
              <a:lnSpc>
                <a:spcPct val="110000"/>
              </a:lnSpc>
            </a:pPr>
            <a:endParaRPr lang="en-US" sz="1600">
              <a:solidFill>
                <a:srgbClr val="FFFFFE"/>
              </a:solidFill>
            </a:endParaRPr>
          </a:p>
          <a:p>
            <a:pPr>
              <a:lnSpc>
                <a:spcPct val="110000"/>
              </a:lnSpc>
            </a:pPr>
            <a:endParaRPr lang="en-US" sz="1600">
              <a:solidFill>
                <a:srgbClr val="FFFFFE"/>
              </a:solidFill>
            </a:endParaRPr>
          </a:p>
        </p:txBody>
      </p:sp>
      <p:pic>
        <p:nvPicPr>
          <p:cNvPr id="37" name="Picture 36" descr="Person watching empty phone">
            <a:extLst>
              <a:ext uri="{FF2B5EF4-FFF2-40B4-BE49-F238E27FC236}">
                <a16:creationId xmlns:a16="http://schemas.microsoft.com/office/drawing/2014/main" id="{34F8544A-98D5-8B10-A8C2-67203F5347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133" r="10718" b="-10"/>
          <a:stretch>
            <a:fillRect/>
          </a:stretch>
        </p:blipFill>
        <p:spPr>
          <a:xfrm>
            <a:off x="7549862" y="227"/>
            <a:ext cx="46418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098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DFF257A-042C-46B5-80D1-3E8CFD334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2836BD6-A1CD-4253-813F-3EDA642A7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63EE4AB3-C905-497E-988B-4D7394894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774DC5FF-D912-4C9F-811A-337208A3B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E04E6A71-624A-4806-A53E-87BC73A85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E1871C83-254F-49CD-8EA7-8CB7089B8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427141DF-5457-4673-B816-C6C5C72AE9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BC9A176E-C84F-4816-97D4-426B396FC0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981B905A-332A-49BC-9456-7D0337D9B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2EBD9769-DFB9-4970-91FF-137E685AF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21DCB916-2D3C-46BC-9A95-EFC166D96C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189DAD37-FFF7-49FA-8FBB-D20A992D4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D148A64A-D598-4309-BCA9-F67ADE72C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38A95D77-7745-4551-BBD5-3515A074D3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A2C20B7F-80D6-4D48-BB2A-9AEC854948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55589882-0BB8-42B0-B42F-32A75B19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53673B9F-5864-445E-82E7-0A8324FA8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16FF3B3D-59FE-4AE1-AA54-14A691D6B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901CA0F0-4962-4EC5-BA5B-3F0A967FC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3DD02E26-C2AD-4062-85BD-28D172C9E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D7B60BD4-07C1-461F-B38E-B39EBACA3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D81BB3F7-E4A5-4BD9-A70D-FDA6C9127F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B93A80B5-32BA-48BB-941A-4FC64AC62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9C057A66-6E97-4BA5-B4B3-2690ACE3C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682" y="1047102"/>
            <a:ext cx="5936885" cy="502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Isosceles Triangle 22">
            <a:extLst>
              <a:ext uri="{FF2B5EF4-FFF2-40B4-BE49-F238E27FC236}">
                <a16:creationId xmlns:a16="http://schemas.microsoft.com/office/drawing/2014/main" id="{764884A8-16DD-467F-A648-70B32E20B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02131" y="5546507"/>
            <a:ext cx="315988" cy="27240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76681CD-6924-4550-926C-667FC2C6A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682" y="1634393"/>
            <a:ext cx="5935796" cy="39173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EF264F-21B8-BC0E-5310-C06FA1CE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714" y="769829"/>
            <a:ext cx="5767566" cy="1072378"/>
          </a:xfrm>
        </p:spPr>
        <p:txBody>
          <a:bodyPr anchor="ctr">
            <a:normAutofit/>
          </a:bodyPr>
          <a:lstStyle/>
          <a:p>
            <a:r>
              <a:rPr lang="en-US" sz="2800">
                <a:ea typeface="Calibri Light"/>
                <a:cs typeface="Calibri Light"/>
              </a:rPr>
              <a:t>Strategic Goals, Activities, and Resources</a:t>
            </a:r>
            <a:endParaRPr 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7BDD6-5EE0-7970-542E-EDCA521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102" y="2084749"/>
            <a:ext cx="5768442" cy="2683606"/>
          </a:xfrm>
        </p:spPr>
        <p:txBody>
          <a:bodyPr>
            <a:normAutofit/>
          </a:bodyPr>
          <a:lstStyle/>
          <a:p>
            <a:r>
              <a:rPr lang="en-US" sz="1600" b="1">
                <a:solidFill>
                  <a:srgbClr val="FFFFFE"/>
                </a:solidFill>
                <a:ea typeface="+mn-lt"/>
                <a:cs typeface="+mn-lt"/>
              </a:rPr>
              <a:t>Goal 2: Mitigate Economic Risks</a:t>
            </a:r>
            <a:endParaRPr lang="en-US" sz="1600">
              <a:solidFill>
                <a:srgbClr val="FFFFFE"/>
              </a:solidFill>
            </a:endParaRPr>
          </a:p>
          <a:p>
            <a:r>
              <a:rPr lang="en-US" sz="1600" b="1">
                <a:solidFill>
                  <a:srgbClr val="FFFFFE"/>
                </a:solidFill>
                <a:ea typeface="+mn-lt"/>
                <a:cs typeface="+mn-lt"/>
              </a:rPr>
              <a:t>Objective</a:t>
            </a:r>
            <a:r>
              <a:rPr lang="en-US" sz="1600">
                <a:solidFill>
                  <a:srgbClr val="FFFFFE"/>
                </a:solidFill>
                <a:ea typeface="+mn-lt"/>
                <a:cs typeface="+mn-lt"/>
              </a:rPr>
              <a:t>: Maintain 90%+ membership renewal rate (2024: 92.9%).</a:t>
            </a:r>
            <a:endParaRPr lang="en-US" sz="1600">
              <a:solidFill>
                <a:srgbClr val="FFFFFE"/>
              </a:solidFill>
            </a:endParaRPr>
          </a:p>
          <a:p>
            <a:r>
              <a:rPr lang="en-US" sz="1600" b="1">
                <a:solidFill>
                  <a:srgbClr val="FFFFFE"/>
                </a:solidFill>
                <a:ea typeface="+mn-lt"/>
                <a:cs typeface="+mn-lt"/>
              </a:rPr>
              <a:t>Activities</a:t>
            </a:r>
            <a:r>
              <a:rPr lang="en-US" sz="1600">
                <a:solidFill>
                  <a:srgbClr val="FFFFFE"/>
                </a:solidFill>
                <a:ea typeface="+mn-lt"/>
                <a:cs typeface="+mn-lt"/>
              </a:rPr>
              <a:t>: Offer smaller Kirkland Signature packs for urban/older households; pilot digital-only memberships.</a:t>
            </a:r>
            <a:endParaRPr lang="en-US" sz="1600">
              <a:solidFill>
                <a:srgbClr val="FFFFFE"/>
              </a:solidFill>
            </a:endParaRPr>
          </a:p>
          <a:p>
            <a:r>
              <a:rPr lang="en-US" sz="1600" b="1">
                <a:solidFill>
                  <a:srgbClr val="FFFFFE"/>
                </a:solidFill>
                <a:ea typeface="+mn-lt"/>
                <a:cs typeface="+mn-lt"/>
              </a:rPr>
              <a:t>Resources</a:t>
            </a:r>
            <a:r>
              <a:rPr lang="en-US" sz="1600">
                <a:solidFill>
                  <a:srgbClr val="FFFFFE"/>
                </a:solidFill>
                <a:ea typeface="+mn-lt"/>
                <a:cs typeface="+mn-lt"/>
              </a:rPr>
              <a:t>: $200M for product redesign; marketing team for outreach.</a:t>
            </a:r>
            <a:endParaRPr lang="en-US" sz="1600">
              <a:solidFill>
                <a:srgbClr val="FFFFFE"/>
              </a:solidFill>
            </a:endParaRPr>
          </a:p>
          <a:p>
            <a:endParaRPr lang="en-US" sz="1600">
              <a:solidFill>
                <a:srgbClr val="FFFFFE"/>
              </a:solidFill>
            </a:endParaRPr>
          </a:p>
        </p:txBody>
      </p:sp>
      <p:pic>
        <p:nvPicPr>
          <p:cNvPr id="5" name="Picture 4" descr="Angled shot of pen on a graph">
            <a:extLst>
              <a:ext uri="{FF2B5EF4-FFF2-40B4-BE49-F238E27FC236}">
                <a16:creationId xmlns:a16="http://schemas.microsoft.com/office/drawing/2014/main" id="{13854C44-C422-6616-AF7F-98BEE1DDC0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93" r="49293" b="-3"/>
          <a:stretch>
            <a:fillRect/>
          </a:stretch>
        </p:blipFill>
        <p:spPr>
          <a:xfrm>
            <a:off x="7549862" y="227"/>
            <a:ext cx="46418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544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98E8958-A0BD-4366-8F61-3A496C51C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45862C-E73D-4EFB-9DD5-8A5E3473E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2676ED1-2492-46B6-88D6-C9ED257B7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8A42DCC-C6BA-4B68-9FC4-FEE65399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F81ED05C-778D-41F3-9C0E-6DE1D668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EE063861-F6FC-4CC1-A77E-5993E5E252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7E1DA2FC-6137-4EC4-B9F4-72264C39D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BFE9E3A7-993F-401D-8B16-53BFC6FA2F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23757125-5D70-4D7A-B223-2FFC51F5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03C4207E-9457-436F-B9A0-C3CAEBF81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64EE9697-E49F-4E62-8318-9E2DBC6E7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0800120F-70F4-4696-BAFB-BBC0BC576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8D1E1ADB-5BAA-49F4-BE24-044E94104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9D410413-BDE6-4A4E-930A-0ACBBF8CD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0EBF657D-5B37-4F84-8833-C569EAB904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A2DBF00E-BE35-44EC-A95B-8B2EE92335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BA2C8141-5135-467E-B940-D3836B16E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44991C1A-45E7-45C6-8816-BFEDFFCCB7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B88BEC13-903F-4318-B5AB-DC23ED2ED5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41E259CE-D2C5-4FBC-9FAE-5AB0BBD0E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495CB679-05D8-44D1-8218-C52552952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DFCC6878-2DB4-4497-B668-E75220A203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36254A6B-DCFA-42AD-906C-C43E2CAEA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1429180E-866D-447C-A170-484000E48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682" y="1047102"/>
            <a:ext cx="5936885" cy="502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22">
            <a:extLst>
              <a:ext uri="{FF2B5EF4-FFF2-40B4-BE49-F238E27FC236}">
                <a16:creationId xmlns:a16="http://schemas.microsoft.com/office/drawing/2014/main" id="{FEE51AA4-287D-4CB8-8CD4-D6986106F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02131" y="5546507"/>
            <a:ext cx="315988" cy="27240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177ACA7-E71A-4888-9EBD-074801D88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682" y="1634393"/>
            <a:ext cx="5935796" cy="39173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F9C0E6-A54D-C7FD-1015-990601187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714" y="769830"/>
            <a:ext cx="5767566" cy="1072378"/>
          </a:xfrm>
        </p:spPr>
        <p:txBody>
          <a:bodyPr anchor="ctr">
            <a:normAutofit/>
          </a:bodyPr>
          <a:lstStyle/>
          <a:p>
            <a:r>
              <a:rPr lang="en-US" sz="2800">
                <a:ea typeface="Calibri Light"/>
                <a:cs typeface="Calibri Light"/>
              </a:rPr>
              <a:t>Strategic Goals, Activities, and Resources</a:t>
            </a:r>
            <a:endParaRPr 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F90AA-03A8-09F8-3D15-95D31CB7E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102" y="2099126"/>
            <a:ext cx="5768442" cy="2683606"/>
          </a:xfrm>
        </p:spPr>
        <p:txBody>
          <a:bodyPr>
            <a:normAutofit/>
          </a:bodyPr>
          <a:lstStyle/>
          <a:p>
            <a:r>
              <a:rPr lang="en-US" sz="1600" b="1" dirty="0">
                <a:solidFill>
                  <a:srgbClr val="FFFFFE"/>
                </a:solidFill>
                <a:ea typeface="+mn-lt"/>
                <a:cs typeface="+mn-lt"/>
              </a:rPr>
              <a:t>Goal 3: Enhance Sustainability</a:t>
            </a:r>
            <a:endParaRPr lang="en-US" sz="1600" dirty="0">
              <a:solidFill>
                <a:srgbClr val="FFFFFE"/>
              </a:solidFill>
            </a:endParaRPr>
          </a:p>
          <a:p>
            <a:r>
              <a:rPr lang="en-US" sz="1600" b="1" dirty="0">
                <a:solidFill>
                  <a:srgbClr val="FFFFFE"/>
                </a:solidFill>
                <a:ea typeface="+mn-lt"/>
                <a:cs typeface="+mn-lt"/>
              </a:rPr>
              <a:t>Objective</a:t>
            </a:r>
            <a:r>
              <a:rPr lang="en-US" sz="1600" dirty="0">
                <a:solidFill>
                  <a:srgbClr val="FFFFFE"/>
                </a:solidFill>
                <a:ea typeface="+mn-lt"/>
                <a:cs typeface="+mn-lt"/>
              </a:rPr>
              <a:t>: Reduce Scope 3 emissions intensity by 20% by 2030.</a:t>
            </a:r>
            <a:endParaRPr lang="en-US" sz="1600" dirty="0">
              <a:solidFill>
                <a:srgbClr val="FFFFFE"/>
              </a:solidFill>
            </a:endParaRPr>
          </a:p>
          <a:p>
            <a:r>
              <a:rPr lang="en-US" sz="1600" b="1" dirty="0">
                <a:solidFill>
                  <a:srgbClr val="FFFFFE"/>
                </a:solidFill>
                <a:ea typeface="+mn-lt"/>
                <a:cs typeface="+mn-lt"/>
              </a:rPr>
              <a:t>Activities</a:t>
            </a:r>
            <a:r>
              <a:rPr lang="en-US" sz="1600" dirty="0">
                <a:solidFill>
                  <a:srgbClr val="FFFFFE"/>
                </a:solidFill>
                <a:ea typeface="+mn-lt"/>
                <a:cs typeface="+mn-lt"/>
              </a:rPr>
              <a:t>: Source eco-friendly Kirkland Signature products; install solar panels in 100 warehouses.</a:t>
            </a:r>
            <a:endParaRPr lang="en-US" sz="1600" dirty="0">
              <a:solidFill>
                <a:srgbClr val="FFFFFE"/>
              </a:solidFill>
            </a:endParaRPr>
          </a:p>
          <a:p>
            <a:r>
              <a:rPr lang="en-US" sz="1600" b="1" dirty="0">
                <a:solidFill>
                  <a:srgbClr val="FFFFFE"/>
                </a:solidFill>
                <a:ea typeface="+mn-lt"/>
                <a:cs typeface="+mn-lt"/>
              </a:rPr>
              <a:t>Resources</a:t>
            </a:r>
            <a:r>
              <a:rPr lang="en-US" sz="1600" dirty="0">
                <a:solidFill>
                  <a:srgbClr val="FFFFFE"/>
                </a:solidFill>
                <a:ea typeface="+mn-lt"/>
                <a:cs typeface="+mn-lt"/>
              </a:rPr>
              <a:t>: $300M for green tech; Green Century partnership for ESG audits.</a:t>
            </a:r>
            <a:endParaRPr lang="en-US" sz="1600" dirty="0">
              <a:solidFill>
                <a:srgbClr val="FFFFFE"/>
              </a:solidFill>
            </a:endParaRPr>
          </a:p>
          <a:p>
            <a:endParaRPr lang="en-US" sz="1600">
              <a:solidFill>
                <a:srgbClr val="FFFFFE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2DF6337-9683-4A06-B3D5-CB22C7F4F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9862" y="-6706"/>
            <a:ext cx="4642138" cy="68711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ustainability">
            <a:extLst>
              <a:ext uri="{FF2B5EF4-FFF2-40B4-BE49-F238E27FC236}">
                <a16:creationId xmlns:a16="http://schemas.microsoft.com/office/drawing/2014/main" id="{1AC1590E-E6AB-C8FA-717A-31663EB56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76652" y="1438299"/>
            <a:ext cx="3990545" cy="399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427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EA06921-3C0C-4126-AF75-9499D4839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B8087084-CC7C-4D37-B821-F12CD3D29F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A27EF3C6-8AF8-41C0-B4DF-664F24087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46AD5CB4-13ED-4F2B-BA75-CA731F668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6C2FD3B8-D702-4F83-BA99-D23921211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AF0D977-DBC6-44B7-93FB-3F76406CF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B3ED27DF-D17E-4922-8394-821ED92539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800084EB-3C31-445C-8B2E-F43BA7ED3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5EE7F4D6-BE2E-41A9-A417-BA1AE4583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8805A789-4E10-46CF-A22B-8841C1CDFA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9BD0D630-7987-48B7-A636-0ED234E22E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F4E7D46D-851A-4DA9-B24D-19DAE1FCF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BA38A754-A53E-469C-B89B-6C7FF9607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CAC17457-E557-440A-B5E0-40DFEEC89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4D697814-F310-40D2-8E79-93C1881074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0CA691A3-EEBB-46A7-A973-B1E2DD112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B7361B78-110B-4437-8058-4E05A4234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97B9FFE1-BC8C-4C55-AE5D-8FDD780018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6F87417E-9520-42E0-84D2-0C0225481A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1235F6B6-5324-426D-84BE-EF96FD430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093C61D3-C80D-4599-8280-763868B24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D6D942F2-89B9-4755-89D9-436583176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C40B6375-7479-45C4-8B99-EA1CF75F3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rgbClr val="FFAD2A"/>
            </a:solidFill>
          </a:ln>
          <a:effectLst>
            <a:outerShdw blurRad="762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hart of a company&amp;#39;s value chain analysis&#10;&#10;AI-generated content may be incorrect.">
            <a:extLst>
              <a:ext uri="{FF2B5EF4-FFF2-40B4-BE49-F238E27FC236}">
                <a16:creationId xmlns:a16="http://schemas.microsoft.com/office/drawing/2014/main" id="{BAABC147-6AE6-8B32-6DB4-63A9B2F237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716" y="340033"/>
            <a:ext cx="11398524" cy="617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572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665" y="0"/>
            <a:ext cx="10268336" cy="68692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9AA4C5-38E4-1E1A-42BF-54FA5E7F6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5700" y="636222"/>
            <a:ext cx="6230857" cy="1230570"/>
          </a:xfrm>
        </p:spPr>
        <p:txBody>
          <a:bodyPr anchor="t">
            <a:normAutofit/>
          </a:bodyPr>
          <a:lstStyle/>
          <a:p>
            <a:pPr algn="l"/>
            <a:r>
              <a:rPr lang="en-US" sz="3600">
                <a:solidFill>
                  <a:schemeClr val="accent1"/>
                </a:solidFill>
                <a:latin typeface="Calibri Light"/>
                <a:ea typeface="Calibri Light"/>
                <a:cs typeface="Calibri Light"/>
              </a:rPr>
              <a:t>Organizational Structure &amp; Culture </a:t>
            </a: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797903" y="954813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BB586579-2B02-C0FF-E5E7-C4E2877CB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5702" y="1713940"/>
            <a:ext cx="9298459" cy="464807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ea typeface="+mn-lt"/>
                <a:cs typeface="+mn-lt"/>
              </a:rPr>
              <a:t>Organizational Structure:</a:t>
            </a:r>
            <a:endParaRPr lang="en-US" sz="1400"/>
          </a:p>
          <a:p>
            <a:pPr lvl="1"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 Costco uses a "centralized structure at the top" coordinating financial, human, and other resources. </a:t>
            </a:r>
          </a:p>
          <a:p>
            <a:pPr lvl="1"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Senior leaders handle strategic planning, goal setting, budgeting, and talent acquisition.</a:t>
            </a:r>
            <a:endParaRPr lang="en-US" sz="1400"/>
          </a:p>
          <a:p>
            <a:pPr lvl="1"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Operations are divided into core functions merchandising, membership, logistics, supply chain, accounting, finance etc.</a:t>
            </a:r>
            <a:endParaRPr lang="en-US" sz="140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ea typeface="+mn-lt"/>
                <a:cs typeface="+mn-lt"/>
              </a:rPr>
              <a:t>Organizational Culture:</a:t>
            </a:r>
            <a:endParaRPr lang="en-US" sz="1400"/>
          </a:p>
          <a:p>
            <a:pPr lvl="1"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Built on employee loyalty, integrity, and value to all its members.</a:t>
            </a:r>
            <a:endParaRPr lang="en-US" sz="1400"/>
          </a:p>
          <a:p>
            <a:pPr lvl="1"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"Costco is recognized for treating employees as valuable assets. It offers above-average wages and strong benefits, which foster loyalty and reduce turnover" (Pereira, para. 11).</a:t>
            </a:r>
            <a:endParaRPr lang="en-US" sz="1400" dirty="0"/>
          </a:p>
          <a:p>
            <a:pPr lvl="1"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Strong focus on ethical business practices and customer satisfaction. </a:t>
            </a:r>
            <a:endParaRPr lang="en-US" sz="140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ea typeface="+mn-lt"/>
                <a:cs typeface="+mn-lt"/>
              </a:rPr>
              <a:t> Recommendations for Change:</a:t>
            </a:r>
            <a:endParaRPr lang="en-US" sz="1400"/>
          </a:p>
          <a:p>
            <a:pPr lvl="1"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Create a digital innovation team to improve e-commerce and tech adoption.</a:t>
            </a:r>
            <a:endParaRPr lang="en-US" sz="1400"/>
          </a:p>
          <a:p>
            <a:pPr lvl="1"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Enhance collaboration between business operations to reduce logistical errors between departments like accounting, IT, and merchandising.</a:t>
            </a:r>
            <a:endParaRPr lang="en-US" sz="1400" dirty="0"/>
          </a:p>
          <a:p>
            <a:pPr lvl="1"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Expand leadership development programs to prepare mid-level managers for higher roles within the company.</a:t>
            </a:r>
            <a:endParaRPr lang="en-US" sz="1400" dirty="0"/>
          </a:p>
          <a:p>
            <a:pPr>
              <a:lnSpc>
                <a:spcPct val="110000"/>
              </a:lnSpc>
            </a:pP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786483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EA06921-3C0C-4126-AF75-9499D4839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B8087084-CC7C-4D37-B821-F12CD3D29F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27EF3C6-8AF8-41C0-B4DF-664F24087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46AD5CB4-13ED-4F2B-BA75-CA731F668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6C2FD3B8-D702-4F83-BA99-D23921211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1AF0D977-DBC6-44B7-93FB-3F76406CF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B3ED27DF-D17E-4922-8394-821ED92539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800084EB-3C31-445C-8B2E-F43BA7ED3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5EE7F4D6-BE2E-41A9-A417-BA1AE4583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8805A789-4E10-46CF-A22B-8841C1CDFA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9BD0D630-7987-48B7-A636-0ED234E22E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F4E7D46D-851A-4DA9-B24D-19DAE1FCF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BA38A754-A53E-469C-B89B-6C7FF9607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CAC17457-E557-440A-B5E0-40DFEEC89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4D697814-F310-40D2-8E79-93C1881074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0CA691A3-EEBB-46A7-A973-B1E2DD112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B7361B78-110B-4437-8058-4E05A4234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97B9FFE1-BC8C-4C55-AE5D-8FDD780018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6F87417E-9520-42E0-84D2-0C0225481A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1235F6B6-5324-426D-84BE-EF96FD430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093C61D3-C80D-4599-8280-763868B24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D6D942F2-89B9-4755-89D9-436583176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C40B6375-7479-45C4-8B99-EA1CF75F3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rgbClr val="FFF85A"/>
            </a:solidFill>
          </a:ln>
          <a:effectLst>
            <a:outerShdw blurRad="762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company&#10;&#10;AI-generated content may be incorrect.">
            <a:extLst>
              <a:ext uri="{FF2B5EF4-FFF2-40B4-BE49-F238E27FC236}">
                <a16:creationId xmlns:a16="http://schemas.microsoft.com/office/drawing/2014/main" id="{C0A3C871-D38D-C1D8-3951-1F60A15FA2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9180"/>
          <a:stretch>
            <a:fillRect/>
          </a:stretch>
        </p:blipFill>
        <p:spPr>
          <a:xfrm>
            <a:off x="325351" y="480710"/>
            <a:ext cx="11541298" cy="589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766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66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665" y="0"/>
            <a:ext cx="10268336" cy="68692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9BC5B3-C524-E065-4178-2C55F5DB2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749" y="138112"/>
            <a:ext cx="6230857" cy="1230570"/>
          </a:xfrm>
        </p:spPr>
        <p:txBody>
          <a:bodyPr anchor="t">
            <a:normAutofit/>
          </a:bodyPr>
          <a:lstStyle/>
          <a:p>
            <a:pPr algn="l"/>
            <a:r>
              <a:rPr lang="en-US" sz="3600" dirty="0">
                <a:solidFill>
                  <a:schemeClr val="accent1"/>
                </a:solidFill>
                <a:ea typeface="Calibri Light"/>
                <a:cs typeface="Calibri Light"/>
              </a:rPr>
              <a:t>Internal Strengths Analysis </a:t>
            </a:r>
          </a:p>
        </p:txBody>
      </p:sp>
      <p:sp>
        <p:nvSpPr>
          <p:cNvPr id="67" name="Isosceles Triangle 66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797903" y="954813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F88E2075-B87E-BE1A-BAA4-354AC5B13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7803" y="1522935"/>
            <a:ext cx="9160059" cy="454131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ea typeface="+mn-lt"/>
                <a:cs typeface="+mn-lt"/>
              </a:rPr>
              <a:t>Core Competencies:</a:t>
            </a: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"The company is known for its ability to manage inventory and distribution effectively, which enables it to keep prices low while maintaining a high level of product quality" (Pereira, para. 7).</a:t>
            </a: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Kirkland Signature brand  and strong vendor relationships allow for bulk purchasing and low pricing.</a:t>
            </a: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"The membership-based model enables Costco to maintain low overhead costs while offering products at discounted prices. It provides a significant source of revenue for the company while also fostering a sense of loyalty among its customers" (Pereira, para. 12).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 Costco has a reputation for treating its employees well, offering competitive wages, benefits, and opportunities for advancement. This has helped motivate employees and is a huge contributor for the organization's success.</a:t>
            </a: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 Costco's streamlined checkout process, which typically involves minimal wait times, has become a hallmark of its brand and a driver for customer loyalty. </a:t>
            </a: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Costco offers various products, including groceries, electronics, furniture, and clothing. This diversification attracts a broad customer base, from families to businesses, and maintain a competitive edge in the retail industry.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09118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665" y="0"/>
            <a:ext cx="10268336" cy="68692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B97648-ECB4-5CE0-C01B-F4F1FF0BF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090" y="138112"/>
            <a:ext cx="6230857" cy="1230570"/>
          </a:xfrm>
        </p:spPr>
        <p:txBody>
          <a:bodyPr anchor="t">
            <a:normAutofit/>
          </a:bodyPr>
          <a:lstStyle/>
          <a:p>
            <a:pPr algn="l"/>
            <a:r>
              <a:rPr lang="en-US" sz="3600" dirty="0">
                <a:solidFill>
                  <a:schemeClr val="accent1"/>
                </a:solidFill>
              </a:rPr>
              <a:t>External Competition Analysis</a:t>
            </a: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797903" y="954813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8DC129-68F7-DBDC-1150-124C8EC598BD}"/>
              </a:ext>
            </a:extLst>
          </p:cNvPr>
          <p:cNvSpPr txBox="1">
            <a:spLocks/>
          </p:cNvSpPr>
          <p:nvPr/>
        </p:nvSpPr>
        <p:spPr>
          <a:xfrm>
            <a:off x="2477803" y="1522935"/>
            <a:ext cx="9160059" cy="45413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Intense rivalry with Amazon, Walmart, Target, Aldi</a:t>
            </a:r>
          </a:p>
          <a:p>
            <a:pPr lvl="1"/>
            <a:r>
              <a:rPr lang="en-US" dirty="0"/>
              <a:t>Amazon leads with a 50% U.S. e-commerce market share</a:t>
            </a:r>
            <a:endParaRPr lang="en-US" sz="800" dirty="0"/>
          </a:p>
          <a:p>
            <a:r>
              <a:rPr lang="en-US" dirty="0"/>
              <a:t>International expansion challenges, facing culturally adept, tech-savvy local players as Costco enters markets like China</a:t>
            </a:r>
            <a:endParaRPr lang="en-US" sz="1600" dirty="0"/>
          </a:p>
          <a:p>
            <a:r>
              <a:rPr lang="en-US" dirty="0"/>
              <a:t>Inflationary pressures and demographic shifts (smaller households) erode the cost benefits of bulk purchases</a:t>
            </a:r>
            <a:endParaRPr lang="en-US" sz="1600" dirty="0"/>
          </a:p>
          <a:p>
            <a:r>
              <a:rPr lang="en-US" dirty="0"/>
              <a:t>Regulatory and sustainability pressures: </a:t>
            </a:r>
          </a:p>
          <a:p>
            <a:pPr lvl="1"/>
            <a:r>
              <a:rPr lang="en-US" dirty="0"/>
              <a:t>Tariff fluctuations, labor regulations, and demands for sustainable practices escalate operational complexities</a:t>
            </a:r>
            <a:endParaRPr lang="en-US" sz="1400" dirty="0"/>
          </a:p>
          <a:p>
            <a:r>
              <a:rPr lang="en-US" dirty="0"/>
              <a:t>Porter’s Five Forces:</a:t>
            </a:r>
          </a:p>
          <a:p>
            <a:pPr lvl="1"/>
            <a:r>
              <a:rPr lang="en-US" dirty="0"/>
              <a:t>Significant buying power and growing threats from substitute products and services in the retail sector</a:t>
            </a:r>
            <a:endParaRPr lang="en-US" sz="1400" dirty="0"/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sz="1000" dirty="0"/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1420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A3BAF07C-C39E-42EB-BB22-8D46691D9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3061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8E9CF54-0466-4261-9E62-0249E60E1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33E32106-E8B1-4F76-9EE6-58537738A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C32C2C46-A045-44FB-8A74-5EBD650C2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6A76F79C-6683-4940-BCF7-4BCCCEE40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8">
              <a:extLst>
                <a:ext uri="{FF2B5EF4-FFF2-40B4-BE49-F238E27FC236}">
                  <a16:creationId xmlns:a16="http://schemas.microsoft.com/office/drawing/2014/main" id="{FF4675A3-6D07-4B1F-9BFC-AEBEA1AD0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9">
              <a:extLst>
                <a:ext uri="{FF2B5EF4-FFF2-40B4-BE49-F238E27FC236}">
                  <a16:creationId xmlns:a16="http://schemas.microsoft.com/office/drawing/2014/main" id="{765E127A-B6B7-4B1D-B7BD-6C8C969D2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0">
              <a:extLst>
                <a:ext uri="{FF2B5EF4-FFF2-40B4-BE49-F238E27FC236}">
                  <a16:creationId xmlns:a16="http://schemas.microsoft.com/office/drawing/2014/main" id="{3BCA9D9E-C72C-4751-BFA9-10B85CACE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1">
              <a:extLst>
                <a:ext uri="{FF2B5EF4-FFF2-40B4-BE49-F238E27FC236}">
                  <a16:creationId xmlns:a16="http://schemas.microsoft.com/office/drawing/2014/main" id="{080C708C-69BF-441B-AB75-C98160ED0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2">
              <a:extLst>
                <a:ext uri="{FF2B5EF4-FFF2-40B4-BE49-F238E27FC236}">
                  <a16:creationId xmlns:a16="http://schemas.microsoft.com/office/drawing/2014/main" id="{3E79964E-F8F1-4763-8892-7BC3DAE30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3">
              <a:extLst>
                <a:ext uri="{FF2B5EF4-FFF2-40B4-BE49-F238E27FC236}">
                  <a16:creationId xmlns:a16="http://schemas.microsoft.com/office/drawing/2014/main" id="{FE09592A-FCC9-4AE5-BA0B-730C6F3BB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4">
              <a:extLst>
                <a:ext uri="{FF2B5EF4-FFF2-40B4-BE49-F238E27FC236}">
                  <a16:creationId xmlns:a16="http://schemas.microsoft.com/office/drawing/2014/main" id="{96448994-820C-4BC1-ABF3-4579C6F99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5">
              <a:extLst>
                <a:ext uri="{FF2B5EF4-FFF2-40B4-BE49-F238E27FC236}">
                  <a16:creationId xmlns:a16="http://schemas.microsoft.com/office/drawing/2014/main" id="{9BB0D192-565A-42B9-B292-CC032D71A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6">
              <a:extLst>
                <a:ext uri="{FF2B5EF4-FFF2-40B4-BE49-F238E27FC236}">
                  <a16:creationId xmlns:a16="http://schemas.microsoft.com/office/drawing/2014/main" id="{6D1CA09C-5F40-4E92-A7E9-D1FCEE512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7">
              <a:extLst>
                <a:ext uri="{FF2B5EF4-FFF2-40B4-BE49-F238E27FC236}">
                  <a16:creationId xmlns:a16="http://schemas.microsoft.com/office/drawing/2014/main" id="{379F5AA5-2E14-4880-A5A6-07AEF2AD8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18">
              <a:extLst>
                <a:ext uri="{FF2B5EF4-FFF2-40B4-BE49-F238E27FC236}">
                  <a16:creationId xmlns:a16="http://schemas.microsoft.com/office/drawing/2014/main" id="{EF14BD32-D239-4DA3-98B3-775207365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19">
              <a:extLst>
                <a:ext uri="{FF2B5EF4-FFF2-40B4-BE49-F238E27FC236}">
                  <a16:creationId xmlns:a16="http://schemas.microsoft.com/office/drawing/2014/main" id="{CF07B250-E5E4-4624-9BD7-8D513A67B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20">
              <a:extLst>
                <a:ext uri="{FF2B5EF4-FFF2-40B4-BE49-F238E27FC236}">
                  <a16:creationId xmlns:a16="http://schemas.microsoft.com/office/drawing/2014/main" id="{BCC5D120-7C8C-4290-865C-4EE6E4F24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21">
              <a:extLst>
                <a:ext uri="{FF2B5EF4-FFF2-40B4-BE49-F238E27FC236}">
                  <a16:creationId xmlns:a16="http://schemas.microsoft.com/office/drawing/2014/main" id="{C24688C6-CAE5-4EF2-B2BA-A138DA0A24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22">
              <a:extLst>
                <a:ext uri="{FF2B5EF4-FFF2-40B4-BE49-F238E27FC236}">
                  <a16:creationId xmlns:a16="http://schemas.microsoft.com/office/drawing/2014/main" id="{6BD31099-7C13-4901-A04F-632B1CD84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23">
              <a:extLst>
                <a:ext uri="{FF2B5EF4-FFF2-40B4-BE49-F238E27FC236}">
                  <a16:creationId xmlns:a16="http://schemas.microsoft.com/office/drawing/2014/main" id="{679F5FF7-82B2-4033-8FBE-63170C937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B3D296CC-CA82-4C71-A176-6A9FECDB8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075000"/>
          </a:xfrm>
          <a:custGeom>
            <a:avLst/>
            <a:gdLst>
              <a:gd name="connsiteX0" fmla="*/ 0 w 12192000"/>
              <a:gd name="connsiteY0" fmla="*/ 0 h 2075000"/>
              <a:gd name="connsiteX1" fmla="*/ 12192000 w 12192000"/>
              <a:gd name="connsiteY1" fmla="*/ 0 h 2075000"/>
              <a:gd name="connsiteX2" fmla="*/ 12192000 w 12192000"/>
              <a:gd name="connsiteY2" fmla="*/ 558112 h 2075000"/>
              <a:gd name="connsiteX3" fmla="*/ 12192000 w 12192000"/>
              <a:gd name="connsiteY3" fmla="*/ 750237 h 2075000"/>
              <a:gd name="connsiteX4" fmla="*/ 12192000 w 12192000"/>
              <a:gd name="connsiteY4" fmla="*/ 1726055 h 2075000"/>
              <a:gd name="connsiteX5" fmla="*/ 12113803 w 12192000"/>
              <a:gd name="connsiteY5" fmla="*/ 1734338 h 2075000"/>
              <a:gd name="connsiteX6" fmla="*/ 6753597 w 12192000"/>
              <a:gd name="connsiteY6" fmla="*/ 2057895 h 2075000"/>
              <a:gd name="connsiteX7" fmla="*/ 400746 w 12192000"/>
              <a:gd name="connsiteY7" fmla="*/ 1886552 h 2075000"/>
              <a:gd name="connsiteX8" fmla="*/ 0 w 12192000"/>
              <a:gd name="connsiteY8" fmla="*/ 1849576 h 2075000"/>
              <a:gd name="connsiteX9" fmla="*/ 0 w 12192000"/>
              <a:gd name="connsiteY9" fmla="*/ 750237 h 2075000"/>
              <a:gd name="connsiteX10" fmla="*/ 0 w 12192000"/>
              <a:gd name="connsiteY10" fmla="*/ 558112 h 20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2075000">
                <a:moveTo>
                  <a:pt x="0" y="0"/>
                </a:moveTo>
                <a:lnTo>
                  <a:pt x="12192000" y="0"/>
                </a:lnTo>
                <a:lnTo>
                  <a:pt x="12192000" y="558112"/>
                </a:lnTo>
                <a:lnTo>
                  <a:pt x="12192000" y="750237"/>
                </a:lnTo>
                <a:lnTo>
                  <a:pt x="12192000" y="1726055"/>
                </a:lnTo>
                <a:lnTo>
                  <a:pt x="12113803" y="1734338"/>
                </a:lnTo>
                <a:cubicBezTo>
                  <a:pt x="10139508" y="1932287"/>
                  <a:pt x="8237152" y="2025290"/>
                  <a:pt x="6753597" y="2057895"/>
                </a:cubicBezTo>
                <a:cubicBezTo>
                  <a:pt x="4940362" y="2097744"/>
                  <a:pt x="2657278" y="2078414"/>
                  <a:pt x="400746" y="1886552"/>
                </a:cubicBezTo>
                <a:lnTo>
                  <a:pt x="0" y="1849576"/>
                </a:lnTo>
                <a:lnTo>
                  <a:pt x="0" y="750237"/>
                </a:lnTo>
                <a:lnTo>
                  <a:pt x="0" y="558112"/>
                </a:lnTo>
                <a:close/>
              </a:path>
            </a:pathLst>
          </a:custGeom>
          <a:solidFill>
            <a:schemeClr val="tx1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2370CF-A3F6-1479-3C23-1DE7B331B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20" y="762608"/>
            <a:ext cx="10481519" cy="1003932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Financial Projection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7011E-0D55-7125-92D0-3098CA446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908" y="2712815"/>
            <a:ext cx="8227269" cy="3542776"/>
          </a:xfrm>
        </p:spPr>
        <p:txBody>
          <a:bodyPr>
            <a:normAutofit/>
          </a:bodyPr>
          <a:lstStyle/>
          <a:p>
            <a:r>
              <a:rPr lang="en-US" dirty="0"/>
              <a:t>For 2024: $249.6B in net sales, $4.83B in membership dues, and $11.7B in digital commerce, next year would want to have around 19% increase</a:t>
            </a:r>
            <a:endParaRPr lang="en-US" sz="1600" dirty="0"/>
          </a:p>
          <a:p>
            <a:r>
              <a:rPr lang="en-US" dirty="0"/>
              <a:t>Boost e-commerce to account for 15% of revenue by 2030 ($30-35B)</a:t>
            </a:r>
            <a:endParaRPr lang="en-US" sz="1600" dirty="0"/>
          </a:p>
          <a:p>
            <a:r>
              <a:rPr lang="en-US" dirty="0"/>
              <a:t>Large Investments:</a:t>
            </a:r>
          </a:p>
          <a:p>
            <a:pPr lvl="1"/>
            <a:r>
              <a:rPr lang="en-US" dirty="0"/>
              <a:t>$500M in AI-powered digital growth, $300M in eco-friendly tech, and $200M in product redesign</a:t>
            </a:r>
            <a:endParaRPr lang="en-US" sz="1400" dirty="0"/>
          </a:p>
          <a:p>
            <a:r>
              <a:rPr lang="en-US" dirty="0"/>
              <a:t>Long-term: </a:t>
            </a:r>
          </a:p>
          <a:p>
            <a:pPr lvl="1"/>
            <a:r>
              <a:rPr lang="en-US" dirty="0"/>
              <a:t>Maintain above 90% membership renewals, while managing growth expenses and margin protection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67607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A3BAF07C-C39E-42EB-BB22-8D46691D9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3061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8E9CF54-0466-4261-9E62-0249E60E1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33E32106-E8B1-4F76-9EE6-58537738A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C32C2C46-A045-44FB-8A74-5EBD650C2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6A76F79C-6683-4940-BCF7-4BCCCEE40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FF4675A3-6D07-4B1F-9BFC-AEBEA1AD0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9">
              <a:extLst>
                <a:ext uri="{FF2B5EF4-FFF2-40B4-BE49-F238E27FC236}">
                  <a16:creationId xmlns:a16="http://schemas.microsoft.com/office/drawing/2014/main" id="{765E127A-B6B7-4B1D-B7BD-6C8C969D2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3BCA9D9E-C72C-4751-BFA9-10B85CACE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080C708C-69BF-441B-AB75-C98160ED0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3E79964E-F8F1-4763-8892-7BC3DAE30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FE09592A-FCC9-4AE5-BA0B-730C6F3BB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96448994-820C-4BC1-ABF3-4579C6F99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9BB0D192-565A-42B9-B292-CC032D71A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6D1CA09C-5F40-4E92-A7E9-D1FCEE512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379F5AA5-2E14-4880-A5A6-07AEF2AD8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EF14BD32-D239-4DA3-98B3-775207365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CF07B250-E5E4-4624-9BD7-8D513A67B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BCC5D120-7C8C-4290-865C-4EE6E4F24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C24688C6-CAE5-4EF2-B2BA-A138DA0A24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6BD31099-7C13-4901-A04F-632B1CD84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679F5FF7-82B2-4033-8FBE-63170C937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" name="Freeform: Shape 30">
            <a:extLst>
              <a:ext uri="{FF2B5EF4-FFF2-40B4-BE49-F238E27FC236}">
                <a16:creationId xmlns:a16="http://schemas.microsoft.com/office/drawing/2014/main" id="{B3D296CC-CA82-4C71-A176-6A9FECDB8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075000"/>
          </a:xfrm>
          <a:custGeom>
            <a:avLst/>
            <a:gdLst>
              <a:gd name="connsiteX0" fmla="*/ 0 w 12192000"/>
              <a:gd name="connsiteY0" fmla="*/ 0 h 2075000"/>
              <a:gd name="connsiteX1" fmla="*/ 12192000 w 12192000"/>
              <a:gd name="connsiteY1" fmla="*/ 0 h 2075000"/>
              <a:gd name="connsiteX2" fmla="*/ 12192000 w 12192000"/>
              <a:gd name="connsiteY2" fmla="*/ 558112 h 2075000"/>
              <a:gd name="connsiteX3" fmla="*/ 12192000 w 12192000"/>
              <a:gd name="connsiteY3" fmla="*/ 750237 h 2075000"/>
              <a:gd name="connsiteX4" fmla="*/ 12192000 w 12192000"/>
              <a:gd name="connsiteY4" fmla="*/ 1726055 h 2075000"/>
              <a:gd name="connsiteX5" fmla="*/ 12113803 w 12192000"/>
              <a:gd name="connsiteY5" fmla="*/ 1734338 h 2075000"/>
              <a:gd name="connsiteX6" fmla="*/ 6753597 w 12192000"/>
              <a:gd name="connsiteY6" fmla="*/ 2057895 h 2075000"/>
              <a:gd name="connsiteX7" fmla="*/ 400746 w 12192000"/>
              <a:gd name="connsiteY7" fmla="*/ 1886552 h 2075000"/>
              <a:gd name="connsiteX8" fmla="*/ 0 w 12192000"/>
              <a:gd name="connsiteY8" fmla="*/ 1849576 h 2075000"/>
              <a:gd name="connsiteX9" fmla="*/ 0 w 12192000"/>
              <a:gd name="connsiteY9" fmla="*/ 750237 h 2075000"/>
              <a:gd name="connsiteX10" fmla="*/ 0 w 12192000"/>
              <a:gd name="connsiteY10" fmla="*/ 558112 h 20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2075000">
                <a:moveTo>
                  <a:pt x="0" y="0"/>
                </a:moveTo>
                <a:lnTo>
                  <a:pt x="12192000" y="0"/>
                </a:lnTo>
                <a:lnTo>
                  <a:pt x="12192000" y="558112"/>
                </a:lnTo>
                <a:lnTo>
                  <a:pt x="12192000" y="750237"/>
                </a:lnTo>
                <a:lnTo>
                  <a:pt x="12192000" y="1726055"/>
                </a:lnTo>
                <a:lnTo>
                  <a:pt x="12113803" y="1734338"/>
                </a:lnTo>
                <a:cubicBezTo>
                  <a:pt x="10139508" y="1932287"/>
                  <a:pt x="8237152" y="2025290"/>
                  <a:pt x="6753597" y="2057895"/>
                </a:cubicBezTo>
                <a:cubicBezTo>
                  <a:pt x="4940362" y="2097744"/>
                  <a:pt x="2657278" y="2078414"/>
                  <a:pt x="400746" y="1886552"/>
                </a:cubicBezTo>
                <a:lnTo>
                  <a:pt x="0" y="1849576"/>
                </a:lnTo>
                <a:lnTo>
                  <a:pt x="0" y="750237"/>
                </a:lnTo>
                <a:lnTo>
                  <a:pt x="0" y="558112"/>
                </a:lnTo>
                <a:close/>
              </a:path>
            </a:pathLst>
          </a:custGeom>
          <a:solidFill>
            <a:schemeClr val="tx1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9B98F-CEF3-8B99-44DC-CB20EE81B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20" y="762608"/>
            <a:ext cx="10481519" cy="1003932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Projected Competitive Advantage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413BC-052F-57BD-BEC1-7D1A56E01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9075" y="2728290"/>
            <a:ext cx="8227269" cy="3542776"/>
          </a:xfrm>
        </p:spPr>
        <p:txBody>
          <a:bodyPr>
            <a:normAutofit fontScale="92500"/>
          </a:bodyPr>
          <a:lstStyle/>
          <a:p>
            <a:r>
              <a:rPr lang="en-US" dirty="0"/>
              <a:t>Scale buying power, lower costs and efficiencies from “no-frills” inventory and SKU strategy</a:t>
            </a:r>
            <a:endParaRPr lang="en-US" sz="1600" dirty="0"/>
          </a:p>
          <a:p>
            <a:r>
              <a:rPr lang="en-US" dirty="0"/>
              <a:t>Kirkland Signature: </a:t>
            </a:r>
          </a:p>
          <a:p>
            <a:pPr lvl="1"/>
            <a:r>
              <a:rPr lang="en-US" dirty="0"/>
              <a:t>Premium products 20% cheaper than national brand equivalents</a:t>
            </a:r>
            <a:endParaRPr lang="en-US" sz="1400" dirty="0"/>
          </a:p>
          <a:p>
            <a:r>
              <a:rPr lang="en-US" dirty="0"/>
              <a:t>Membership: </a:t>
            </a:r>
          </a:p>
          <a:p>
            <a:pPr lvl="1"/>
            <a:r>
              <a:rPr lang="en-US" dirty="0"/>
              <a:t>Recurring revenue that enables a high retention rate (stay around 92% renewal rate)</a:t>
            </a:r>
            <a:endParaRPr lang="en-US" sz="1400" dirty="0"/>
          </a:p>
          <a:p>
            <a:r>
              <a:rPr lang="en-US" dirty="0"/>
              <a:t>Digital &amp; Sustainability: </a:t>
            </a:r>
          </a:p>
          <a:p>
            <a:pPr lvl="1"/>
            <a:r>
              <a:rPr lang="en-US" dirty="0"/>
              <a:t>AI-powered personalization, same-day delivery</a:t>
            </a:r>
          </a:p>
          <a:p>
            <a:pPr lvl="1"/>
            <a:r>
              <a:rPr lang="en-US" dirty="0"/>
              <a:t>Goal of 20% Scope 3 emissions reductions by 2030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401904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31F64B-C5C9-C3F0-9A1F-0F3100FB8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" name="Rectangle 104">
            <a:extLst>
              <a:ext uri="{FF2B5EF4-FFF2-40B4-BE49-F238E27FC236}">
                <a16:creationId xmlns:a16="http://schemas.microsoft.com/office/drawing/2014/main" id="{1DCECA6D-996A-491F-9000-A1C6DDAB3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stco Acquires Innovel Solutions | Supply &amp; Demand Chain Executive">
            <a:extLst>
              <a:ext uri="{FF2B5EF4-FFF2-40B4-BE49-F238E27FC236}">
                <a16:creationId xmlns:a16="http://schemas.microsoft.com/office/drawing/2014/main" id="{CFD904E2-D859-A788-2F01-8E65CECB9E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88" r="-1" b="-1"/>
          <a:stretch>
            <a:fillRect/>
          </a:stretch>
        </p:blipFill>
        <p:spPr>
          <a:xfrm>
            <a:off x="20" y="227"/>
            <a:ext cx="12191675" cy="6858000"/>
          </a:xfrm>
          <a:prstGeom prst="rect">
            <a:avLst/>
          </a:prstGeom>
        </p:spPr>
      </p:pic>
      <p:sp>
        <p:nvSpPr>
          <p:cNvPr id="106" name="Rectangle 105">
            <a:extLst>
              <a:ext uri="{FF2B5EF4-FFF2-40B4-BE49-F238E27FC236}">
                <a16:creationId xmlns:a16="http://schemas.microsoft.com/office/drawing/2014/main" id="{71B9E7F2-705C-4516-9EC3-E4E766F29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4760" y="0"/>
            <a:ext cx="6917240" cy="6858000"/>
          </a:xfrm>
          <a:prstGeom prst="rect">
            <a:avLst/>
          </a:prstGeom>
          <a:solidFill>
            <a:srgbClr val="000001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4D407F9-E967-4A7C-ABD7-F02C785FD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>
              <a:extLst>
                <a:ext uri="{FF2B5EF4-FFF2-40B4-BE49-F238E27FC236}">
                  <a16:creationId xmlns:a16="http://schemas.microsoft.com/office/drawing/2014/main" id="{3DF9C388-FC8A-45A4-A408-A212E6E13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6">
              <a:extLst>
                <a:ext uri="{FF2B5EF4-FFF2-40B4-BE49-F238E27FC236}">
                  <a16:creationId xmlns:a16="http://schemas.microsoft.com/office/drawing/2014/main" id="{F7607279-0070-4A91-B096-F20D4BE74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7">
              <a:extLst>
                <a:ext uri="{FF2B5EF4-FFF2-40B4-BE49-F238E27FC236}">
                  <a16:creationId xmlns:a16="http://schemas.microsoft.com/office/drawing/2014/main" id="{9BF3ED43-9007-484E-9C1D-149764271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8">
              <a:extLst>
                <a:ext uri="{FF2B5EF4-FFF2-40B4-BE49-F238E27FC236}">
                  <a16:creationId xmlns:a16="http://schemas.microsoft.com/office/drawing/2014/main" id="{2F1D4685-22BB-4258-9723-E205A6D08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9">
              <a:extLst>
                <a:ext uri="{FF2B5EF4-FFF2-40B4-BE49-F238E27FC236}">
                  <a16:creationId xmlns:a16="http://schemas.microsoft.com/office/drawing/2014/main" id="{ADA3DD5F-22A5-4E26-B496-48BA3C295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10">
              <a:extLst>
                <a:ext uri="{FF2B5EF4-FFF2-40B4-BE49-F238E27FC236}">
                  <a16:creationId xmlns:a16="http://schemas.microsoft.com/office/drawing/2014/main" id="{278CB988-737A-4B25-9D27-A302E2935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11">
              <a:extLst>
                <a:ext uri="{FF2B5EF4-FFF2-40B4-BE49-F238E27FC236}">
                  <a16:creationId xmlns:a16="http://schemas.microsoft.com/office/drawing/2014/main" id="{2BD577E3-B807-4C27-827A-F67AF7717D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12">
              <a:extLst>
                <a:ext uri="{FF2B5EF4-FFF2-40B4-BE49-F238E27FC236}">
                  <a16:creationId xmlns:a16="http://schemas.microsoft.com/office/drawing/2014/main" id="{A5172FC1-C96D-49CF-94B5-C9F10E15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13">
              <a:extLst>
                <a:ext uri="{FF2B5EF4-FFF2-40B4-BE49-F238E27FC236}">
                  <a16:creationId xmlns:a16="http://schemas.microsoft.com/office/drawing/2014/main" id="{B866A937-A7D1-4172-990E-5DD1D713DA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14">
              <a:extLst>
                <a:ext uri="{FF2B5EF4-FFF2-40B4-BE49-F238E27FC236}">
                  <a16:creationId xmlns:a16="http://schemas.microsoft.com/office/drawing/2014/main" id="{96D52ADC-C82E-4210-8CE1-6FB4D8823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15">
              <a:extLst>
                <a:ext uri="{FF2B5EF4-FFF2-40B4-BE49-F238E27FC236}">
                  <a16:creationId xmlns:a16="http://schemas.microsoft.com/office/drawing/2014/main" id="{A323351A-B9A8-4629-9C0A-6D19DE4B45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16">
              <a:extLst>
                <a:ext uri="{FF2B5EF4-FFF2-40B4-BE49-F238E27FC236}">
                  <a16:creationId xmlns:a16="http://schemas.microsoft.com/office/drawing/2014/main" id="{A533B1E1-5874-4F6E-95E1-34DD4FB7AA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17">
              <a:extLst>
                <a:ext uri="{FF2B5EF4-FFF2-40B4-BE49-F238E27FC236}">
                  <a16:creationId xmlns:a16="http://schemas.microsoft.com/office/drawing/2014/main" id="{1DEBD598-B4EF-4F00-869C-7EC7C94F3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18">
              <a:extLst>
                <a:ext uri="{FF2B5EF4-FFF2-40B4-BE49-F238E27FC236}">
                  <a16:creationId xmlns:a16="http://schemas.microsoft.com/office/drawing/2014/main" id="{C4A09323-8C8A-4684-96DD-FA95EB298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19">
              <a:extLst>
                <a:ext uri="{FF2B5EF4-FFF2-40B4-BE49-F238E27FC236}">
                  <a16:creationId xmlns:a16="http://schemas.microsoft.com/office/drawing/2014/main" id="{67FB5D8A-E60A-498F-86EF-0E8859B39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20">
              <a:extLst>
                <a:ext uri="{FF2B5EF4-FFF2-40B4-BE49-F238E27FC236}">
                  <a16:creationId xmlns:a16="http://schemas.microsoft.com/office/drawing/2014/main" id="{A6F733EF-C4C3-4EDD-9243-0DBF15A7E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21">
              <a:extLst>
                <a:ext uri="{FF2B5EF4-FFF2-40B4-BE49-F238E27FC236}">
                  <a16:creationId xmlns:a16="http://schemas.microsoft.com/office/drawing/2014/main" id="{2138D957-6D1F-4B4C-97A4-3051A18F21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22">
              <a:extLst>
                <a:ext uri="{FF2B5EF4-FFF2-40B4-BE49-F238E27FC236}">
                  <a16:creationId xmlns:a16="http://schemas.microsoft.com/office/drawing/2014/main" id="{16A32565-55A7-4545-BD5E-54FED7D00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23">
              <a:extLst>
                <a:ext uri="{FF2B5EF4-FFF2-40B4-BE49-F238E27FC236}">
                  <a16:creationId xmlns:a16="http://schemas.microsoft.com/office/drawing/2014/main" id="{21579139-5196-420E-9427-874C3EFBDD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24">
              <a:extLst>
                <a:ext uri="{FF2B5EF4-FFF2-40B4-BE49-F238E27FC236}">
                  <a16:creationId xmlns:a16="http://schemas.microsoft.com/office/drawing/2014/main" id="{D1B2C7F4-5F3A-49F5-A1CF-88FA1DCF6F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25">
              <a:extLst>
                <a:ext uri="{FF2B5EF4-FFF2-40B4-BE49-F238E27FC236}">
                  <a16:creationId xmlns:a16="http://schemas.microsoft.com/office/drawing/2014/main" id="{E2CE0B70-3DD1-4A22-B05B-8A70A3372D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6B6439A-6986-4ED1-9F17-A87907F27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4A416F24-F780-43FB-BC89-F41CC5802D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Isosceles Triangle 22">
              <a:extLst>
                <a:ext uri="{FF2B5EF4-FFF2-40B4-BE49-F238E27FC236}">
                  <a16:creationId xmlns:a16="http://schemas.microsoft.com/office/drawing/2014/main" id="{DCD7711F-E8FC-4082-92BC-F6FCB1190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5C39E810-7538-48FC-A39E-D8DD2EBCBF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A9380A3-3465-70FC-328A-147B7A6BC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1" y="2358391"/>
            <a:ext cx="3498979" cy="2453676"/>
          </a:xfrm>
        </p:spPr>
        <p:txBody>
          <a:bodyPr>
            <a:normAutofit/>
          </a:bodyPr>
          <a:lstStyle/>
          <a:p>
            <a:r>
              <a:rPr lang="en-US" dirty="0">
                <a:ea typeface="Calibri Light" panose="020F0302020204030204"/>
                <a:cs typeface="Calibri Light" panose="020F0302020204030204"/>
              </a:rPr>
              <a:t>Costco's Global Strategies and Acquisitions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D98C90C7-7FF6-4ABE-96E7-187FC4424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8830" y="1262222"/>
            <a:ext cx="5310672" cy="524862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FFFFFE"/>
                </a:solidFill>
              </a:rPr>
              <a:t>Expanding in the East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>
                <a:solidFill>
                  <a:srgbClr val="FFFFFE"/>
                </a:solidFill>
              </a:rPr>
              <a:t>Costco opened its second store in China which led to over 80,000 memberships being sold in the first week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>
                <a:solidFill>
                  <a:srgbClr val="FFFFFE"/>
                </a:solidFill>
              </a:rPr>
              <a:t>This indicates that there might be the start of Costco's globalization.</a:t>
            </a:r>
          </a:p>
          <a:p>
            <a:pPr marL="457200" lvl="1" indent="0">
              <a:buNone/>
            </a:pPr>
            <a:endParaRPr lang="en-US">
              <a:solidFill>
                <a:srgbClr val="FFFFFE"/>
              </a:solidFill>
            </a:endParaRPr>
          </a:p>
          <a:p>
            <a:r>
              <a:rPr lang="en-US">
                <a:solidFill>
                  <a:srgbClr val="FFFFFE"/>
                </a:solidFill>
              </a:rPr>
              <a:t>Acquisitions: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>
                <a:solidFill>
                  <a:srgbClr val="FFFFFE"/>
                </a:solidFill>
              </a:rPr>
              <a:t>Costco spent $1 billion dollars to acquire Innovel Solutions, this helped them with delivery logistics, warehousing, and more (Muse).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>
                <a:solidFill>
                  <a:srgbClr val="FFFFFE"/>
                </a:solidFill>
              </a:rPr>
              <a:t>Opened many doors for Costco to be able to distribute all across the US territories.</a:t>
            </a:r>
          </a:p>
          <a:p>
            <a:pPr marL="0" indent="0">
              <a:buNone/>
            </a:pPr>
            <a:endParaRPr lang="en-US">
              <a:solidFill>
                <a:srgbClr val="FFFFF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FFFFF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FFFF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8888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109F8E-B70C-89D7-9229-0199D3DE1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828D1E49-2A21-4A83-A0E0-FB1597B4B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88B852E-5494-418B-A833-75CF016A9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DF31E3C1-1A46-4329-9F80-B576692FEE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6">
              <a:extLst>
                <a:ext uri="{FF2B5EF4-FFF2-40B4-BE49-F238E27FC236}">
                  <a16:creationId xmlns:a16="http://schemas.microsoft.com/office/drawing/2014/main" id="{294B4592-99CA-47B1-816F-CE2D44F65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7">
              <a:extLst>
                <a:ext uri="{FF2B5EF4-FFF2-40B4-BE49-F238E27FC236}">
                  <a16:creationId xmlns:a16="http://schemas.microsoft.com/office/drawing/2014/main" id="{BF690E4C-72F8-4AC5-AF99-562763CC67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8">
              <a:extLst>
                <a:ext uri="{FF2B5EF4-FFF2-40B4-BE49-F238E27FC236}">
                  <a16:creationId xmlns:a16="http://schemas.microsoft.com/office/drawing/2014/main" id="{F834CDD4-CAB8-4ACC-9AAC-5399C743DE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9">
              <a:extLst>
                <a:ext uri="{FF2B5EF4-FFF2-40B4-BE49-F238E27FC236}">
                  <a16:creationId xmlns:a16="http://schemas.microsoft.com/office/drawing/2014/main" id="{1AEB045A-6821-475B-A28E-047437ABE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10">
              <a:extLst>
                <a:ext uri="{FF2B5EF4-FFF2-40B4-BE49-F238E27FC236}">
                  <a16:creationId xmlns:a16="http://schemas.microsoft.com/office/drawing/2014/main" id="{D9B790C0-3D34-4626-BAFB-6EB473F40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11">
              <a:extLst>
                <a:ext uri="{FF2B5EF4-FFF2-40B4-BE49-F238E27FC236}">
                  <a16:creationId xmlns:a16="http://schemas.microsoft.com/office/drawing/2014/main" id="{EDA4D87F-91A4-4628-9A6E-F01820A7E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12">
              <a:extLst>
                <a:ext uri="{FF2B5EF4-FFF2-40B4-BE49-F238E27FC236}">
                  <a16:creationId xmlns:a16="http://schemas.microsoft.com/office/drawing/2014/main" id="{045DAB88-124C-459C-A889-DAE9C9BE2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13">
              <a:extLst>
                <a:ext uri="{FF2B5EF4-FFF2-40B4-BE49-F238E27FC236}">
                  <a16:creationId xmlns:a16="http://schemas.microsoft.com/office/drawing/2014/main" id="{85D44010-1DAA-4CAC-B83F-7E3E8C455D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14">
              <a:extLst>
                <a:ext uri="{FF2B5EF4-FFF2-40B4-BE49-F238E27FC236}">
                  <a16:creationId xmlns:a16="http://schemas.microsoft.com/office/drawing/2014/main" id="{E8C01D66-5C93-4A2E-AA74-DE97574EA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15">
              <a:extLst>
                <a:ext uri="{FF2B5EF4-FFF2-40B4-BE49-F238E27FC236}">
                  <a16:creationId xmlns:a16="http://schemas.microsoft.com/office/drawing/2014/main" id="{E2E1A6E1-6C4A-47D3-81E2-9F8624F1BB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16">
              <a:extLst>
                <a:ext uri="{FF2B5EF4-FFF2-40B4-BE49-F238E27FC236}">
                  <a16:creationId xmlns:a16="http://schemas.microsoft.com/office/drawing/2014/main" id="{3E849CB5-4526-49DC-B77B-A20FDB7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17">
              <a:extLst>
                <a:ext uri="{FF2B5EF4-FFF2-40B4-BE49-F238E27FC236}">
                  <a16:creationId xmlns:a16="http://schemas.microsoft.com/office/drawing/2014/main" id="{5A18C8A4-FB2A-44C1-93D3-26C6DDFE0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18">
              <a:extLst>
                <a:ext uri="{FF2B5EF4-FFF2-40B4-BE49-F238E27FC236}">
                  <a16:creationId xmlns:a16="http://schemas.microsoft.com/office/drawing/2014/main" id="{85D014FD-8C5A-4071-B19E-4910AAB618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19">
              <a:extLst>
                <a:ext uri="{FF2B5EF4-FFF2-40B4-BE49-F238E27FC236}">
                  <a16:creationId xmlns:a16="http://schemas.microsoft.com/office/drawing/2014/main" id="{A37D7262-3596-4026-9AD4-E94332E526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20">
              <a:extLst>
                <a:ext uri="{FF2B5EF4-FFF2-40B4-BE49-F238E27FC236}">
                  <a16:creationId xmlns:a16="http://schemas.microsoft.com/office/drawing/2014/main" id="{187E37E0-AAC3-4B33-AF36-334ACCBD33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21">
              <a:extLst>
                <a:ext uri="{FF2B5EF4-FFF2-40B4-BE49-F238E27FC236}">
                  <a16:creationId xmlns:a16="http://schemas.microsoft.com/office/drawing/2014/main" id="{409758BB-8A0E-4BEB-BC0C-F410AD98C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22">
              <a:extLst>
                <a:ext uri="{FF2B5EF4-FFF2-40B4-BE49-F238E27FC236}">
                  <a16:creationId xmlns:a16="http://schemas.microsoft.com/office/drawing/2014/main" id="{97C4EFE2-9D25-4978-BD9A-873B492702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23">
              <a:extLst>
                <a:ext uri="{FF2B5EF4-FFF2-40B4-BE49-F238E27FC236}">
                  <a16:creationId xmlns:a16="http://schemas.microsoft.com/office/drawing/2014/main" id="{9CCAF82A-A0E0-4B55-A97B-EFFAE79AF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24">
              <a:extLst>
                <a:ext uri="{FF2B5EF4-FFF2-40B4-BE49-F238E27FC236}">
                  <a16:creationId xmlns:a16="http://schemas.microsoft.com/office/drawing/2014/main" id="{4F800DD8-3954-4F73-8807-16F1CFAC1E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25">
              <a:extLst>
                <a:ext uri="{FF2B5EF4-FFF2-40B4-BE49-F238E27FC236}">
                  <a16:creationId xmlns:a16="http://schemas.microsoft.com/office/drawing/2014/main" id="{84E1C91A-4B06-4852-918C-6380FA98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979682-C761-E5F4-2121-CC696F0EF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7" y="795527"/>
            <a:ext cx="10488547" cy="119091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  <a:ea typeface="Calibri Light"/>
                <a:cs typeface="Calibri Light"/>
              </a:rPr>
              <a:t>Strategy to Assess Progress Towards Goals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972DE0D-2E53-4159-ABD3-C60152426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030" y="2250281"/>
            <a:ext cx="4959318" cy="3678237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B307AEFB-C1CD-EE8C-B898-9924A0639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2342" y="2889862"/>
            <a:ext cx="5028928" cy="3699669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Key Performance Indicators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As stated, since the first case study in this semester, Key Performance Indicators (KPIs) is a vital way to track progress towards a goal to see if you are on the right track.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Strategy Adjustments</a:t>
            </a:r>
          </a:p>
          <a:p>
            <a:r>
              <a:rPr lang="en-US" dirty="0">
                <a:ea typeface="+mn-lt"/>
                <a:cs typeface="+mn-lt"/>
              </a:rPr>
              <a:t>Change strategies based of trajectory of reaching strategic goals</a:t>
            </a:r>
          </a:p>
          <a:p>
            <a:r>
              <a:rPr lang="en-US" dirty="0"/>
              <a:t>Gauge customer satisfaction by using ecofriendly options and surveys for changes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59E47BD-D145-13C2-382C-092AC0F71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833129"/>
              </p:ext>
            </p:extLst>
          </p:nvPr>
        </p:nvGraphicFramePr>
        <p:xfrm>
          <a:off x="1103257" y="2885691"/>
          <a:ext cx="4626865" cy="2407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663">
                  <a:extLst>
                    <a:ext uri="{9D8B030D-6E8A-4147-A177-3AD203B41FA5}">
                      <a16:colId xmlns:a16="http://schemas.microsoft.com/office/drawing/2014/main" val="3857171474"/>
                    </a:ext>
                  </a:extLst>
                </a:gridCol>
                <a:gridCol w="2686202">
                  <a:extLst>
                    <a:ext uri="{9D8B030D-6E8A-4147-A177-3AD203B41FA5}">
                      <a16:colId xmlns:a16="http://schemas.microsoft.com/office/drawing/2014/main" val="1436730361"/>
                    </a:ext>
                  </a:extLst>
                </a:gridCol>
              </a:tblGrid>
              <a:tr h="601854">
                <a:tc>
                  <a:txBody>
                    <a:bodyPr/>
                    <a:lstStyle/>
                    <a:p>
                      <a:r>
                        <a:rPr lang="en-US" sz="1600"/>
                        <a:t>Strategic Goals</a:t>
                      </a:r>
                    </a:p>
                  </a:txBody>
                  <a:tcPr marL="81332" marR="81332" marT="40666" marB="40666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Key Performance Indicator (KPIs)</a:t>
                      </a:r>
                    </a:p>
                  </a:txBody>
                  <a:tcPr marL="81332" marR="81332" marT="40666" marB="40666"/>
                </a:tc>
                <a:extLst>
                  <a:ext uri="{0D108BD9-81ED-4DB2-BD59-A6C34878D82A}">
                    <a16:rowId xmlns:a16="http://schemas.microsoft.com/office/drawing/2014/main" val="3036670521"/>
                  </a:ext>
                </a:extLst>
              </a:tr>
              <a:tr h="601854">
                <a:tc>
                  <a:txBody>
                    <a:bodyPr/>
                    <a:lstStyle/>
                    <a:p>
                      <a:r>
                        <a:rPr lang="en-US" sz="1600"/>
                        <a:t>Strengthen E-Commerce</a:t>
                      </a:r>
                    </a:p>
                  </a:txBody>
                  <a:tcPr marL="81332" marR="81332" marT="40666" marB="40666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solidFill>
                            <a:schemeClr val="tx1"/>
                          </a:solidFill>
                          <a:latin typeface="Rockwell"/>
                        </a:rPr>
                        <a:t>Increase online sales to 15% of revenue by 2030</a:t>
                      </a:r>
                      <a:endParaRPr lang="en-US" sz="1600" b="1">
                        <a:solidFill>
                          <a:schemeClr val="tx1"/>
                        </a:solidFill>
                      </a:endParaRPr>
                    </a:p>
                  </a:txBody>
                  <a:tcPr marL="81332" marR="81332" marT="40666" marB="40666"/>
                </a:tc>
                <a:extLst>
                  <a:ext uri="{0D108BD9-81ED-4DB2-BD59-A6C34878D82A}">
                    <a16:rowId xmlns:a16="http://schemas.microsoft.com/office/drawing/2014/main" val="2078981518"/>
                  </a:ext>
                </a:extLst>
              </a:tr>
              <a:tr h="601854">
                <a:tc>
                  <a:txBody>
                    <a:bodyPr/>
                    <a:lstStyle/>
                    <a:p>
                      <a:r>
                        <a:rPr lang="en-US" sz="1600"/>
                        <a:t>Mitigate Economic Risk</a:t>
                      </a:r>
                    </a:p>
                  </a:txBody>
                  <a:tcPr marL="81332" marR="81332" marT="40666" marB="40666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solidFill>
                            <a:schemeClr val="tx1"/>
                          </a:solidFill>
                          <a:latin typeface="Rockwell"/>
                        </a:rPr>
                        <a:t>Maintain 90%+ membership renewal rate</a:t>
                      </a:r>
                      <a:endParaRPr lang="en-US" sz="1600" b="1">
                        <a:solidFill>
                          <a:schemeClr val="tx1"/>
                        </a:solidFill>
                      </a:endParaRPr>
                    </a:p>
                  </a:txBody>
                  <a:tcPr marL="81332" marR="81332" marT="40666" marB="40666"/>
                </a:tc>
                <a:extLst>
                  <a:ext uri="{0D108BD9-81ED-4DB2-BD59-A6C34878D82A}">
                    <a16:rowId xmlns:a16="http://schemas.microsoft.com/office/drawing/2014/main" val="89932271"/>
                  </a:ext>
                </a:extLst>
              </a:tr>
              <a:tr h="601854">
                <a:tc>
                  <a:txBody>
                    <a:bodyPr/>
                    <a:lstStyle/>
                    <a:p>
                      <a:r>
                        <a:rPr lang="en-US" sz="1600"/>
                        <a:t>Improve Sustainability</a:t>
                      </a:r>
                    </a:p>
                  </a:txBody>
                  <a:tcPr marL="81332" marR="81332" marT="40666" marB="40666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solidFill>
                            <a:schemeClr val="tx1"/>
                          </a:solidFill>
                          <a:latin typeface="Rockwell"/>
                        </a:rPr>
                        <a:t>Reduce Scope 3 emissions intensity by 20% by 2030.</a:t>
                      </a:r>
                      <a:endParaRPr lang="en-US" sz="1600" b="1">
                        <a:solidFill>
                          <a:schemeClr val="tx1"/>
                        </a:solidFill>
                      </a:endParaRPr>
                    </a:p>
                  </a:txBody>
                  <a:tcPr marL="81332" marR="81332" marT="40666" marB="40666"/>
                </a:tc>
                <a:extLst>
                  <a:ext uri="{0D108BD9-81ED-4DB2-BD59-A6C34878D82A}">
                    <a16:rowId xmlns:a16="http://schemas.microsoft.com/office/drawing/2014/main" val="3010811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9110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30D35-ADC5-CBDF-B544-F048EFFB5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Works Cited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70E17-9CC3-AA28-2303-ACA102247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7388" y="802809"/>
            <a:ext cx="7582864" cy="5249940"/>
          </a:xfrm>
        </p:spPr>
        <p:txBody>
          <a:bodyPr/>
          <a:lstStyle/>
          <a:p>
            <a:pPr marL="0" indent="0">
              <a:buNone/>
            </a:pPr>
            <a:endParaRPr lang="en-US" sz="1100" dirty="0">
              <a:solidFill>
                <a:srgbClr val="05103E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5103E"/>
                </a:solidFill>
                <a:latin typeface="Times New Roman"/>
                <a:ea typeface="+mn-lt"/>
                <a:cs typeface="+mn-lt"/>
              </a:rPr>
              <a:t>Costco 2024 Annual Report; Statista, 2024; Pew Research Center, 2022. (Slides 7, 15, &amp; 16)</a:t>
            </a:r>
            <a:endParaRPr lang="en-US" dirty="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200" dirty="0">
                <a:solidFill>
                  <a:srgbClr val="05103E"/>
                </a:solidFill>
                <a:latin typeface="Times New Roman"/>
                <a:cs typeface="Times New Roman"/>
              </a:rPr>
              <a:t>Muse, Tyler . “Costco Acquisitions &amp; Mergers.” </a:t>
            </a:r>
            <a:r>
              <a:rPr lang="en-US" sz="1200" i="1" dirty="0">
                <a:solidFill>
                  <a:srgbClr val="05103E"/>
                </a:solidFill>
                <a:latin typeface="Times New Roman"/>
                <a:cs typeface="Times New Roman"/>
                <a:hlinkClick r:id="rId2"/>
              </a:rPr>
              <a:t>Www.historyoasis.com</a:t>
            </a:r>
            <a:r>
              <a:rPr lang="en-US" sz="1200" dirty="0">
                <a:solidFill>
                  <a:srgbClr val="05103E"/>
                </a:solidFill>
                <a:latin typeface="Times New Roman"/>
                <a:cs typeface="Times New Roman"/>
              </a:rPr>
              <a:t>, </a:t>
            </a:r>
            <a:r>
              <a:rPr lang="en-US" sz="1200" dirty="0">
                <a:solidFill>
                  <a:srgbClr val="05103E"/>
                </a:solidFill>
                <a:latin typeface="Times New Roman"/>
                <a:cs typeface="Times New Roman"/>
                <a:hlinkClick r:id="rId3"/>
              </a:rPr>
              <a:t>www.historyoasis.com/post/costco-acquisitions-mergers</a:t>
            </a:r>
            <a:r>
              <a:rPr lang="en-US" sz="1200" dirty="0">
                <a:solidFill>
                  <a:srgbClr val="05103E"/>
                </a:solidFill>
                <a:latin typeface="Times New Roman"/>
                <a:cs typeface="Times New Roman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sz="1100" dirty="0">
                <a:solidFill>
                  <a:srgbClr val="05103E"/>
                </a:solidFill>
                <a:latin typeface="Times New Roman"/>
                <a:cs typeface="Times New Roman"/>
              </a:rPr>
              <a:t>Pereira, D. (2025, May 31). Costco Value Chain analysis. </a:t>
            </a:r>
            <a:r>
              <a:rPr lang="en-US" sz="1100" i="1" dirty="0">
                <a:solidFill>
                  <a:srgbClr val="05103E"/>
                </a:solidFill>
                <a:latin typeface="Times New Roman"/>
                <a:cs typeface="Times New Roman"/>
              </a:rPr>
              <a:t>Business Model Analyst</a:t>
            </a:r>
            <a:r>
              <a:rPr lang="en-US" sz="1100" dirty="0">
                <a:solidFill>
                  <a:srgbClr val="05103E"/>
                </a:solidFill>
                <a:latin typeface="Times New Roman"/>
                <a:cs typeface="Times New Roman"/>
              </a:rPr>
              <a:t>. </a:t>
            </a:r>
            <a:r>
              <a:rPr lang="en-US" sz="1100" dirty="0">
                <a:solidFill>
                  <a:srgbClr val="05103E"/>
                </a:solidFill>
                <a:latin typeface="Times New Roman"/>
                <a:cs typeface="Times New Roman"/>
                <a:hlinkClick r:id="rId4"/>
              </a:rPr>
              <a:t>https://businessmodelanalyst.com/costco-value-chain-analysis/?srsltid=AfmBOopR1NWMnv9EHAd5CmPwFZny9pBX5VCPnxi_rJnOQjrOd8NSVP4K</a:t>
            </a:r>
            <a:r>
              <a:rPr lang="en-US" sz="1100" dirty="0">
                <a:solidFill>
                  <a:srgbClr val="05103E"/>
                </a:solidFill>
                <a:latin typeface="Times New Roman"/>
                <a:cs typeface="Times New Roman"/>
              </a:rPr>
              <a:t> (Slides 3, 4, &amp; 16)</a:t>
            </a:r>
            <a:endParaRPr lang="en-US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5103E"/>
                </a:solidFill>
                <a:latin typeface="Times New Roman"/>
                <a:cs typeface="Times New Roman"/>
              </a:rPr>
              <a:t>Pereira, D. (2024, December 20). Costco SWOT Analysis (2025). </a:t>
            </a:r>
            <a:r>
              <a:rPr lang="en-US" sz="1100" i="1" dirty="0">
                <a:solidFill>
                  <a:srgbClr val="05103E"/>
                </a:solidFill>
                <a:latin typeface="Times New Roman"/>
                <a:cs typeface="Times New Roman"/>
              </a:rPr>
              <a:t>Business Model Analyst</a:t>
            </a:r>
            <a:r>
              <a:rPr lang="en-US" sz="1100" dirty="0">
                <a:solidFill>
                  <a:srgbClr val="05103E"/>
                </a:solidFill>
                <a:latin typeface="Times New Roman"/>
                <a:cs typeface="Times New Roman"/>
              </a:rPr>
              <a:t>. </a:t>
            </a:r>
            <a:r>
              <a:rPr lang="en-US" sz="1100" dirty="0">
                <a:solidFill>
                  <a:srgbClr val="05103E"/>
                </a:solidFill>
                <a:latin typeface="Times New Roman"/>
                <a:cs typeface="Times New Roman"/>
                <a:hlinkClick r:id="rId5"/>
              </a:rPr>
              <a:t>https://businessmodelanalyst.com/costco-swot-analysis/?srsltid=AfmBOorvd3rbopxdHlYyvJSgwc5fCCVri1EBut6EseyEedFqnhp98bpt</a:t>
            </a:r>
            <a:r>
              <a:rPr lang="en-US" sz="1100" dirty="0">
                <a:solidFill>
                  <a:srgbClr val="05103E"/>
                </a:solidFill>
                <a:latin typeface="Times New Roman"/>
                <a:cs typeface="Times New Roman"/>
              </a:rPr>
              <a:t> (Slides 5 &amp; 6)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CB594-0419-8269-7C8F-3A9E5D0E9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257684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809A7CE2358B4B89F52E605B29535A" ma:contentTypeVersion="3" ma:contentTypeDescription="Create a new document." ma:contentTypeScope="" ma:versionID="9093cc34ec1cd91a57b9cc8d03a6be16">
  <xsd:schema xmlns:xsd="http://www.w3.org/2001/XMLSchema" xmlns:xs="http://www.w3.org/2001/XMLSchema" xmlns:p="http://schemas.microsoft.com/office/2006/metadata/properties" xmlns:ns2="035d5920-fef2-4ebc-b172-f3db7462dac4" targetNamespace="http://schemas.microsoft.com/office/2006/metadata/properties" ma:root="true" ma:fieldsID="a0dddba0d795a14cf41b7dbc3449ff4b" ns2:_="">
    <xsd:import namespace="035d5920-fef2-4ebc-b172-f3db7462da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5d5920-fef2-4ebc-b172-f3db7462da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12BA37-1E66-4037-93EC-6CAFF7CFB07E}">
  <ds:schemaRefs>
    <ds:schemaRef ds:uri="http://purl.org/dc/terms/"/>
    <ds:schemaRef ds:uri="http://purl.org/dc/elements/1.1/"/>
    <ds:schemaRef ds:uri="http://schemas.microsoft.com/office/2006/documentManagement/types"/>
    <ds:schemaRef ds:uri="035d5920-fef2-4ebc-b172-f3db7462dac4"/>
    <ds:schemaRef ds:uri="http://schemas.microsoft.com/office/2006/metadata/properties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664629A-1143-45B6-BC41-EB05221182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5d5920-fef2-4ebc-b172-f3db7462da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483EA1A-690E-4877-8F40-85C90A29D76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196</TotalTime>
  <Words>1280</Words>
  <Application>Microsoft Office PowerPoint</Application>
  <PresentationFormat>Widescreen</PresentationFormat>
  <Paragraphs>110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Atlas</vt:lpstr>
      <vt:lpstr>Case Study: Charting the Future through Strategy</vt:lpstr>
      <vt:lpstr>Costco Wholesale Corporation</vt:lpstr>
      <vt:lpstr>Strategic Overview: Company Background</vt:lpstr>
      <vt:lpstr>Revised Vision Statement</vt:lpstr>
      <vt:lpstr>Revised Mission Statement</vt:lpstr>
      <vt:lpstr>Core Values</vt:lpstr>
      <vt:lpstr>Strategic Goals, Activities, and Resources</vt:lpstr>
      <vt:lpstr>Strategic Goals, Activities, and Resources</vt:lpstr>
      <vt:lpstr>Strategic Goals, Activities, and Resources</vt:lpstr>
      <vt:lpstr>PowerPoint Presentation</vt:lpstr>
      <vt:lpstr>Organizational Structure &amp; Culture </vt:lpstr>
      <vt:lpstr>PowerPoint Presentation</vt:lpstr>
      <vt:lpstr>Internal Strengths Analysis </vt:lpstr>
      <vt:lpstr>External Competition Analysis</vt:lpstr>
      <vt:lpstr>Financial Projection Analysis</vt:lpstr>
      <vt:lpstr>Projected Competitive Advantage</vt:lpstr>
      <vt:lpstr>Costco's Global Strategies and Acquisitions</vt:lpstr>
      <vt:lpstr>Strategy to Assess Progress Towards Goals</vt:lpstr>
      <vt:lpstr>Works Cited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Campbell, Mitchell T</dc:creator>
  <cp:lastModifiedBy>Trimble Patterson, Jaden</cp:lastModifiedBy>
  <cp:revision>576</cp:revision>
  <dcterms:created xsi:type="dcterms:W3CDTF">2025-07-21T13:07:17Z</dcterms:created>
  <dcterms:modified xsi:type="dcterms:W3CDTF">2025-07-25T20:45:06Z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0x010100B3809A7CE2358B4B89F52E605B29535A</vt:lpwstr>
  </property>
  <property fmtid="{D5CDD505-2E9C-101B-9397-08002B2CF9AE}" pid="3" name="Order">
    <vt:r8>2500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</Properties>
</file>